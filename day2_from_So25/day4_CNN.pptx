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9" r:id="rId3"/>
    <p:sldId id="272" r:id="rId4"/>
    <p:sldId id="273" r:id="rId5"/>
    <p:sldId id="274" r:id="rId6"/>
    <p:sldId id="275" r:id="rId7"/>
    <p:sldId id="276" r:id="rId8"/>
    <p:sldId id="277" r:id="rId9"/>
    <p:sldId id="279" r:id="rId10"/>
    <p:sldId id="278" r:id="rId11"/>
    <p:sldId id="280" r:id="rId12"/>
    <p:sldId id="281" r:id="rId13"/>
    <p:sldId id="283" r:id="rId14"/>
    <p:sldId id="284" r:id="rId15"/>
    <p:sldId id="285" r:id="rId16"/>
    <p:sldId id="282" r:id="rId17"/>
    <p:sldId id="286" r:id="rId18"/>
    <p:sldId id="288" r:id="rId19"/>
    <p:sldId id="289" r:id="rId20"/>
    <p:sldId id="290" r:id="rId21"/>
    <p:sldId id="291" r:id="rId22"/>
    <p:sldId id="287" r:id="rId23"/>
    <p:sldId id="292" r:id="rId24"/>
    <p:sldId id="293" r:id="rId25"/>
    <p:sldId id="294" r:id="rId26"/>
    <p:sldId id="304" r:id="rId27"/>
    <p:sldId id="295" r:id="rId28"/>
    <p:sldId id="296" r:id="rId29"/>
    <p:sldId id="297" r:id="rId30"/>
    <p:sldId id="299" r:id="rId31"/>
    <p:sldId id="298" r:id="rId32"/>
    <p:sldId id="300" r:id="rId33"/>
    <p:sldId id="301" r:id="rId34"/>
    <p:sldId id="302" r:id="rId35"/>
    <p:sldId id="30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5D1522-0926-4622-9FD4-0C2941E338AC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58698-22A4-44D0-AD24-30023FB8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692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E401D4-0156-DD40-F928-C43E0A819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6621E7-E197-78D8-9B9E-7F57D7163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15D918-C78F-77B6-A9C2-DFEA8FE11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A4F1-36ED-4BCC-B6A9-9E28F536A0E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30F4A3-4DC1-A425-26D4-665C5580F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BC608E-17E2-DF4E-C1A3-553F7918C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EB2DD-6D48-4EA7-AB46-A0A6279B8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84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AC91A5-FDF5-2A61-9992-EE3CDE05F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B3FF13-865F-7118-A8DB-10A3F312D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C40C09-AFAC-E8F8-10BE-7430B38B2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A4F1-36ED-4BCC-B6A9-9E28F536A0E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CB6296-4DA1-1FBA-B8DC-99F168E7E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E9440E-00FB-7D6A-046C-AB9D91933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EB2DD-6D48-4EA7-AB46-A0A6279B8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18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6CF89-D40E-CB05-AD44-988B9899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FD00C5-9DEC-CDDE-7FDC-0C1A3950A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D09D4C-3D5A-4353-7EB1-D91DCC6CF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A4F1-36ED-4BCC-B6A9-9E28F536A0E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7AC425-54CE-0C1F-E46A-1CFDAC0B0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2804D6-FD98-E54B-F200-72FFB960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EB2DD-6D48-4EA7-AB46-A0A6279B8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702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A8574A-6876-668A-D557-BE5D3AA77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D89A0C-F80F-5A77-3109-5716719DF4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5C96B0F-C56F-0B78-37E5-849D824C0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4ECDCB-31EF-F87C-9FD3-32820AB8C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A4F1-36ED-4BCC-B6A9-9E28F536A0E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2F4158-2661-6CEA-C6F5-EED193385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46FD31-C52F-B1CA-30E7-851F62CB1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EB2DD-6D48-4EA7-AB46-A0A6279B8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22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C305C7-EC7D-1D56-DE2B-9AF67DB27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36B360-C58C-A662-AEF6-7C0967031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71F2C62-209D-3E5E-EE90-5674747C7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EC4FAE7-B4A7-C303-8390-AD0D947FC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877F3E1-B7B3-3FD1-0AB8-97C8EA778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DF23D9A-3909-C103-A668-AC6B5ED1C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A4F1-36ED-4BCC-B6A9-9E28F536A0E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CF06D19-9C0D-343C-2963-9533DF70A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6BEB341-414A-A905-2839-DC8C3D8CE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EB2DD-6D48-4EA7-AB46-A0A6279B8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537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E33A88-10EC-2C11-6030-B277F4128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626164E-2E69-81DD-57DD-9EA6A05EB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A4F1-36ED-4BCC-B6A9-9E28F536A0E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652FDBE-3CC4-E022-73AE-B4F1E4087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413E49C-41EE-0356-4B10-49B3F28B2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EB2DD-6D48-4EA7-AB46-A0A6279B8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678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9BC7BBD-043C-C917-8487-E9D82452E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A4F1-36ED-4BCC-B6A9-9E28F536A0E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ADE05B4-AB71-C924-0624-348DDF5E8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47C944-19FA-ACD2-A674-07533ABCF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EB2DD-6D48-4EA7-AB46-A0A6279B8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868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7B4AD9-82F4-DCF8-A10F-9CDA24BB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AB51EA-E74E-B850-CF40-819C2B7DE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DF28065-C4FD-A031-6621-30E60CD05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36DC78-F6A7-FA77-213D-5B1587521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A4F1-36ED-4BCC-B6A9-9E28F536A0E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732EAF3-C89A-C4EA-5F17-CAFFE2A09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CA7FC61-CCBF-8FFE-BEDF-2BCC6AFBF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EB2DD-6D48-4EA7-AB46-A0A6279B8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1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19E7E2-3396-6411-EB76-4BAE7326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428BC56-9159-AD88-0243-59249DE4DA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303530D-DF73-9641-2E0C-0ED17D86A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32FBF0-97E4-A3DD-22BC-7BC056E7E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A4F1-36ED-4BCC-B6A9-9E28F536A0E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6F23F2F-3701-65E3-6C1A-88F9D1E4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186E858-1605-DE2E-708A-245C7A8FF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EB2DD-6D48-4EA7-AB46-A0A6279B8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41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C57947-A2AD-B9EE-EB11-1067C6AAB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F846E49-B4C3-00C3-4CC1-ECA5A0BAB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B38BB0-BC96-18B3-E2A6-C2B815BDF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A4F1-36ED-4BCC-B6A9-9E28F536A0E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A657F5-EB3A-451F-59A4-1F7D418FE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393729-2E7C-CB34-C36E-838F3C351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EB2DD-6D48-4EA7-AB46-A0A6279B8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78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A1D7227-7433-7D2E-BD17-EFBA0CC22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E077179-B761-ED46-10CA-4DA894654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FAD921-AED0-DA1C-8E9D-2BBC74347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5A4F1-36ED-4BCC-B6A9-9E28F536A0E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F7C245-FE02-0809-D4AD-78E3B0CEC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8EF793-6FF5-B83A-B879-40C934FEE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EB2DD-6D48-4EA7-AB46-A0A6279B8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81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818A4AC-D7D9-2F98-5A61-1339509C4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AB535F-1245-E1F7-B434-D4E7B462E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0DB9BD-9EC0-9C70-F89C-0ABD16A1B6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F5A4F1-36ED-4BCC-B6A9-9E28F536A0E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E20FC2-489E-F77D-2502-11E9362FE3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BB3036-86BE-E9C6-FEF0-1A35C33E0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EB2DD-6D48-4EA7-AB46-A0A6279B81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64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medmnist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0F03E5-082E-EE71-1BA6-9B0BB533DD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Computer </a:t>
            </a:r>
            <a:r>
              <a:rPr lang="de-DE" dirty="0" err="1"/>
              <a:t>vision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biomedical</a:t>
            </a:r>
            <a:r>
              <a:rPr lang="de-DE" dirty="0"/>
              <a:t> </a:t>
            </a:r>
            <a:r>
              <a:rPr lang="de-DE" dirty="0" err="1"/>
              <a:t>images</a:t>
            </a:r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FAF09A7-B0F4-54AB-0923-585B0C6C03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Sören Lukassen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956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CAD7CE7-A242-0A78-BFBF-3B2721A57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Feeding</a:t>
            </a:r>
            <a:r>
              <a:rPr lang="de-DE" dirty="0"/>
              <a:t> </a:t>
            </a:r>
            <a:r>
              <a:rPr lang="de-DE" dirty="0" err="1"/>
              <a:t>images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fully-</a:t>
            </a:r>
            <a:r>
              <a:rPr lang="de-DE" dirty="0" err="1"/>
              <a:t>connected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networks</a:t>
            </a:r>
            <a:endParaRPr lang="en-US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64E1D21A-BFE4-1DA7-B82F-728EECE3EFC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25852969"/>
              </p:ext>
            </p:extLst>
          </p:nvPr>
        </p:nvGraphicFramePr>
        <p:xfrm>
          <a:off x="838201" y="1825625"/>
          <a:ext cx="4175450" cy="3978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090">
                  <a:extLst>
                    <a:ext uri="{9D8B030D-6E8A-4147-A177-3AD203B41FA5}">
                      <a16:colId xmlns:a16="http://schemas.microsoft.com/office/drawing/2014/main" val="1167103484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297176560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36139935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78572269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3500409737"/>
                    </a:ext>
                  </a:extLst>
                </a:gridCol>
              </a:tblGrid>
              <a:tr h="79560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27135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7638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87328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711877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326310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7A5A6B0B-067D-1A9F-7981-46921708D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627750"/>
              </p:ext>
            </p:extLst>
          </p:nvPr>
        </p:nvGraphicFramePr>
        <p:xfrm>
          <a:off x="8242041" y="1325637"/>
          <a:ext cx="193325" cy="4647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25">
                  <a:extLst>
                    <a:ext uri="{9D8B030D-6E8A-4147-A177-3AD203B41FA5}">
                      <a16:colId xmlns:a16="http://schemas.microsoft.com/office/drawing/2014/main" val="3813275540"/>
                    </a:ext>
                  </a:extLst>
                </a:gridCol>
              </a:tblGrid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352197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200808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16200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35381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542008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11067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15860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447237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313624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74592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301444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797479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29610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48240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93814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04400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479349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1896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158623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177156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894887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583999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28191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43491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862169"/>
                  </a:ext>
                </a:extLst>
              </a:tr>
            </a:tbl>
          </a:graphicData>
        </a:graphic>
      </p:graphicFrame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8D9277C9-C64B-940A-7B4A-9870072EA693}"/>
              </a:ext>
            </a:extLst>
          </p:cNvPr>
          <p:cNvSpPr/>
          <p:nvPr/>
        </p:nvSpPr>
        <p:spPr>
          <a:xfrm>
            <a:off x="5881397" y="3189766"/>
            <a:ext cx="1492898" cy="9190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61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CAD7CE7-A242-0A78-BFBF-3B2721A57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Feeding</a:t>
            </a:r>
            <a:r>
              <a:rPr lang="de-DE" dirty="0"/>
              <a:t> </a:t>
            </a:r>
            <a:r>
              <a:rPr lang="de-DE" dirty="0" err="1"/>
              <a:t>images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fully-</a:t>
            </a:r>
            <a:r>
              <a:rPr lang="de-DE" dirty="0" err="1"/>
              <a:t>connected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networks</a:t>
            </a:r>
            <a:endParaRPr lang="en-US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64E1D21A-BFE4-1DA7-B82F-728EECE3EFC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29442368"/>
              </p:ext>
            </p:extLst>
          </p:nvPr>
        </p:nvGraphicFramePr>
        <p:xfrm>
          <a:off x="838201" y="1825625"/>
          <a:ext cx="4175450" cy="3978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090">
                  <a:extLst>
                    <a:ext uri="{9D8B030D-6E8A-4147-A177-3AD203B41FA5}">
                      <a16:colId xmlns:a16="http://schemas.microsoft.com/office/drawing/2014/main" val="1167103484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297176560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36139935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78572269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3500409737"/>
                    </a:ext>
                  </a:extLst>
                </a:gridCol>
              </a:tblGrid>
              <a:tr h="79560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27135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7638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87328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711877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326310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7A5A6B0B-067D-1A9F-7981-46921708D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30791"/>
              </p:ext>
            </p:extLst>
          </p:nvPr>
        </p:nvGraphicFramePr>
        <p:xfrm>
          <a:off x="8242041" y="1325637"/>
          <a:ext cx="193325" cy="4647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25">
                  <a:extLst>
                    <a:ext uri="{9D8B030D-6E8A-4147-A177-3AD203B41FA5}">
                      <a16:colId xmlns:a16="http://schemas.microsoft.com/office/drawing/2014/main" val="3813275540"/>
                    </a:ext>
                  </a:extLst>
                </a:gridCol>
              </a:tblGrid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352197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200808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16200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35381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542008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11067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15860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447237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313624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74592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301444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797479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29610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48240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93814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04400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479349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1896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158623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177156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894887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583999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28191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43491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862169"/>
                  </a:ext>
                </a:extLst>
              </a:tr>
            </a:tbl>
          </a:graphicData>
        </a:graphic>
      </p:graphicFrame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8D9277C9-C64B-940A-7B4A-9870072EA693}"/>
              </a:ext>
            </a:extLst>
          </p:cNvPr>
          <p:cNvSpPr/>
          <p:nvPr/>
        </p:nvSpPr>
        <p:spPr>
          <a:xfrm>
            <a:off x="5881397" y="3189766"/>
            <a:ext cx="1492898" cy="9190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623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CAD7CE7-A242-0A78-BFBF-3B2721A57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Feeding</a:t>
            </a:r>
            <a:r>
              <a:rPr lang="de-DE" dirty="0"/>
              <a:t> </a:t>
            </a:r>
            <a:r>
              <a:rPr lang="de-DE" dirty="0" err="1"/>
              <a:t>images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fully-</a:t>
            </a:r>
            <a:r>
              <a:rPr lang="de-DE" dirty="0" err="1"/>
              <a:t>connected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networks</a:t>
            </a:r>
            <a:endParaRPr lang="en-US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64E1D21A-BFE4-1DA7-B82F-728EECE3EFC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03698349"/>
              </p:ext>
            </p:extLst>
          </p:nvPr>
        </p:nvGraphicFramePr>
        <p:xfrm>
          <a:off x="838201" y="1825625"/>
          <a:ext cx="4175450" cy="3978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090">
                  <a:extLst>
                    <a:ext uri="{9D8B030D-6E8A-4147-A177-3AD203B41FA5}">
                      <a16:colId xmlns:a16="http://schemas.microsoft.com/office/drawing/2014/main" val="1167103484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297176560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36139935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78572269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3500409737"/>
                    </a:ext>
                  </a:extLst>
                </a:gridCol>
              </a:tblGrid>
              <a:tr h="79560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27135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7638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87328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711877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326310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7A5A6B0B-067D-1A9F-7981-46921708D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227068"/>
              </p:ext>
            </p:extLst>
          </p:nvPr>
        </p:nvGraphicFramePr>
        <p:xfrm>
          <a:off x="8242041" y="1325637"/>
          <a:ext cx="193325" cy="4647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25">
                  <a:extLst>
                    <a:ext uri="{9D8B030D-6E8A-4147-A177-3AD203B41FA5}">
                      <a16:colId xmlns:a16="http://schemas.microsoft.com/office/drawing/2014/main" val="3813275540"/>
                    </a:ext>
                  </a:extLst>
                </a:gridCol>
              </a:tblGrid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352197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200808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16200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35381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542008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11067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15860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447237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313624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74592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301444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797479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29610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48240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93814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04400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479349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1896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158623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177156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894887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583999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28191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43491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862169"/>
                  </a:ext>
                </a:extLst>
              </a:tr>
            </a:tbl>
          </a:graphicData>
        </a:graphic>
      </p:graphicFrame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8D9277C9-C64B-940A-7B4A-9870072EA693}"/>
              </a:ext>
            </a:extLst>
          </p:cNvPr>
          <p:cNvSpPr/>
          <p:nvPr/>
        </p:nvSpPr>
        <p:spPr>
          <a:xfrm>
            <a:off x="5881397" y="3189766"/>
            <a:ext cx="1492898" cy="9190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839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CAD7CE7-A242-0A78-BFBF-3B2721A57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Feeding</a:t>
            </a:r>
            <a:r>
              <a:rPr lang="de-DE" dirty="0"/>
              <a:t> </a:t>
            </a:r>
            <a:r>
              <a:rPr lang="de-DE" dirty="0" err="1"/>
              <a:t>images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fully-</a:t>
            </a:r>
            <a:r>
              <a:rPr lang="de-DE" dirty="0" err="1"/>
              <a:t>connected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networks</a:t>
            </a:r>
            <a:endParaRPr lang="en-US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64E1D21A-BFE4-1DA7-B82F-728EECE3EFC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81086298"/>
              </p:ext>
            </p:extLst>
          </p:nvPr>
        </p:nvGraphicFramePr>
        <p:xfrm>
          <a:off x="838201" y="1825625"/>
          <a:ext cx="4175450" cy="3978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090">
                  <a:extLst>
                    <a:ext uri="{9D8B030D-6E8A-4147-A177-3AD203B41FA5}">
                      <a16:colId xmlns:a16="http://schemas.microsoft.com/office/drawing/2014/main" val="1167103484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297176560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36139935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78572269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3500409737"/>
                    </a:ext>
                  </a:extLst>
                </a:gridCol>
              </a:tblGrid>
              <a:tr h="79560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27135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7638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87328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711877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326310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7A5A6B0B-067D-1A9F-7981-46921708D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73762"/>
              </p:ext>
            </p:extLst>
          </p:nvPr>
        </p:nvGraphicFramePr>
        <p:xfrm>
          <a:off x="8242041" y="1325637"/>
          <a:ext cx="193325" cy="4647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25">
                  <a:extLst>
                    <a:ext uri="{9D8B030D-6E8A-4147-A177-3AD203B41FA5}">
                      <a16:colId xmlns:a16="http://schemas.microsoft.com/office/drawing/2014/main" val="3813275540"/>
                    </a:ext>
                  </a:extLst>
                </a:gridCol>
              </a:tblGrid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352197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200808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16200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35381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542008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11067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15860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447237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313624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74592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301444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797479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29610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48240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93814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04400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479349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1896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158623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177156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894887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583999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28191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43491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862169"/>
                  </a:ext>
                </a:extLst>
              </a:tr>
            </a:tbl>
          </a:graphicData>
        </a:graphic>
      </p:graphicFrame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8D9277C9-C64B-940A-7B4A-9870072EA693}"/>
              </a:ext>
            </a:extLst>
          </p:cNvPr>
          <p:cNvSpPr/>
          <p:nvPr/>
        </p:nvSpPr>
        <p:spPr>
          <a:xfrm>
            <a:off x="5881397" y="3189766"/>
            <a:ext cx="1492898" cy="9190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20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CAD7CE7-A242-0A78-BFBF-3B2721A57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Feeding</a:t>
            </a:r>
            <a:r>
              <a:rPr lang="de-DE" dirty="0"/>
              <a:t> </a:t>
            </a:r>
            <a:r>
              <a:rPr lang="de-DE" dirty="0" err="1"/>
              <a:t>images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fully-</a:t>
            </a:r>
            <a:r>
              <a:rPr lang="de-DE" dirty="0" err="1"/>
              <a:t>connected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networks</a:t>
            </a:r>
            <a:endParaRPr lang="en-US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64E1D21A-BFE4-1DA7-B82F-728EECE3EFC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1" y="1825625"/>
          <a:ext cx="4175450" cy="3978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090">
                  <a:extLst>
                    <a:ext uri="{9D8B030D-6E8A-4147-A177-3AD203B41FA5}">
                      <a16:colId xmlns:a16="http://schemas.microsoft.com/office/drawing/2014/main" val="1167103484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297176560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36139935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78572269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3500409737"/>
                    </a:ext>
                  </a:extLst>
                </a:gridCol>
              </a:tblGrid>
              <a:tr h="79560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27135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7638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87328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711877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326310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7A5A6B0B-067D-1A9F-7981-46921708DC4E}"/>
              </a:ext>
            </a:extLst>
          </p:cNvPr>
          <p:cNvGraphicFramePr>
            <a:graphicFrameLocks noGrp="1"/>
          </p:cNvGraphicFramePr>
          <p:nvPr/>
        </p:nvGraphicFramePr>
        <p:xfrm>
          <a:off x="8242041" y="1325637"/>
          <a:ext cx="193325" cy="4647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25">
                  <a:extLst>
                    <a:ext uri="{9D8B030D-6E8A-4147-A177-3AD203B41FA5}">
                      <a16:colId xmlns:a16="http://schemas.microsoft.com/office/drawing/2014/main" val="3813275540"/>
                    </a:ext>
                  </a:extLst>
                </a:gridCol>
              </a:tblGrid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352197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200808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16200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35381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542008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11067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15860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447237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313624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74592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301444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797479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29610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48240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93814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04400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479349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1896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158623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177156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894887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583999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28191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43491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862169"/>
                  </a:ext>
                </a:extLst>
              </a:tr>
            </a:tbl>
          </a:graphicData>
        </a:graphic>
      </p:graphicFrame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8D9277C9-C64B-940A-7B4A-9870072EA693}"/>
              </a:ext>
            </a:extLst>
          </p:cNvPr>
          <p:cNvSpPr/>
          <p:nvPr/>
        </p:nvSpPr>
        <p:spPr>
          <a:xfrm>
            <a:off x="5881397" y="3189766"/>
            <a:ext cx="1492898" cy="9190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3D5795C4-6540-FB3E-04C7-2FE14F7E6419}"/>
              </a:ext>
            </a:extLst>
          </p:cNvPr>
          <p:cNvGrpSpPr/>
          <p:nvPr/>
        </p:nvGrpSpPr>
        <p:grpSpPr>
          <a:xfrm>
            <a:off x="10242685" y="3189766"/>
            <a:ext cx="360000" cy="984866"/>
            <a:chOff x="10242685" y="3123965"/>
            <a:chExt cx="360000" cy="984866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665ABF59-F111-54BB-C489-ECE5A03D2B80}"/>
                </a:ext>
              </a:extLst>
            </p:cNvPr>
            <p:cNvSpPr/>
            <p:nvPr/>
          </p:nvSpPr>
          <p:spPr>
            <a:xfrm>
              <a:off x="10242685" y="3123965"/>
              <a:ext cx="360000" cy="3600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E028A48E-B208-9517-D5BC-DBBEFFABD878}"/>
                </a:ext>
              </a:extLst>
            </p:cNvPr>
            <p:cNvSpPr/>
            <p:nvPr/>
          </p:nvSpPr>
          <p:spPr>
            <a:xfrm>
              <a:off x="10242685" y="3748831"/>
              <a:ext cx="360000" cy="3600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CDD61AA-97E0-D958-F7CC-8C5BE10AFECE}"/>
              </a:ext>
            </a:extLst>
          </p:cNvPr>
          <p:cNvCxnSpPr>
            <a:endCxn id="11" idx="2"/>
          </p:cNvCxnSpPr>
          <p:nvPr/>
        </p:nvCxnSpPr>
        <p:spPr>
          <a:xfrm>
            <a:off x="8435366" y="1399592"/>
            <a:ext cx="1807319" cy="19701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29A2774A-7DC9-FE81-CC88-FF06749D3A7D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35366" y="1604865"/>
            <a:ext cx="1807319" cy="17649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542787E7-C91E-A843-EAE1-D213FED8CEE5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35366" y="1764643"/>
            <a:ext cx="1807319" cy="16051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FE98DDA2-7663-0A33-10F3-49CCE5DA3560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35366" y="1950098"/>
            <a:ext cx="1807319" cy="14196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45459BA5-C024-4B5D-6D55-93C44A977327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35366" y="2146041"/>
            <a:ext cx="1807319" cy="12237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3762C5D1-7E34-4626-1AF3-44C6AF2EAD9A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35366" y="2338873"/>
            <a:ext cx="1807319" cy="1030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0AADD750-46AE-36D1-E057-2233755D4EA2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35366" y="2541581"/>
            <a:ext cx="1807319" cy="8281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BBC1DCB7-56E1-AD7C-D292-69EDF72F643A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35366" y="2725155"/>
            <a:ext cx="1807319" cy="6446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2795A1B6-3D50-CA06-01E1-F6DFE084C16D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35366" y="2879638"/>
            <a:ext cx="1807319" cy="4901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3676769B-C397-221A-3FE2-71E8A4C6A470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35366" y="3115811"/>
            <a:ext cx="1807319" cy="2539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34AD2765-AA95-F678-8A21-64788C78ADA2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35366" y="3290596"/>
            <a:ext cx="1807319" cy="791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41A0123A-3B2E-9E9D-ACA0-CC6B39935E65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739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1357C0C1-3447-8817-273E-27E670D6D8E6}"/>
              </a:ext>
            </a:extLst>
          </p:cNvPr>
          <p:cNvCxnSpPr>
            <a:cxnSpLocks/>
            <a:stCxn id="9" idx="3"/>
            <a:endCxn id="11" idx="2"/>
          </p:cNvCxnSpPr>
          <p:nvPr/>
        </p:nvCxnSpPr>
        <p:spPr>
          <a:xfrm flipV="1">
            <a:off x="8435366" y="3369766"/>
            <a:ext cx="1807319" cy="2795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D95DAB02-53A7-63A2-5F52-ED0D21C0737A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4646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B1575AB1-3AC5-901E-63CF-A5A05ED471C9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6446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F62AA32C-DB63-6E2D-A975-C2704666D515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8369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3A4358D4-C3F5-5100-0A88-F5F8E025925C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10254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0370E5BE-2282-0564-AC8C-A987B3F686EE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11907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8C5C69B9-3FF1-02A4-504A-E193A2D0EDF4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14093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FC0546EF-2071-9BF6-B1E0-1CF58701B144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15746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AE3076DC-6745-EAE1-6F8D-BB2D582B5A5C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17666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3CF8848A-E225-74E0-447A-EB040A308A92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1931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E54A151C-FB07-01A4-D3B5-C76425CAFB6E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21731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766ED2CA-CF5A-C858-E3FF-EB7073E0EC00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2331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86A88B97-0B3E-0953-686C-A57422C7A371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24971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1424BD9B-512E-730B-1331-334FD5CB865A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1419787"/>
            <a:ext cx="1807319" cy="25748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BA2BA71C-8D1D-A609-1271-B89949A3B86A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1604865"/>
            <a:ext cx="1807319" cy="23897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74202945-B396-8E48-2416-734B5F1EB88D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1764643"/>
            <a:ext cx="1807319" cy="22299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4ABB6C3D-0B81-3265-B494-F852DF8FF18A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1950098"/>
            <a:ext cx="1807319" cy="20445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D9E244B1-0C1B-C9C9-16B1-C08775FF2F4D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2161630"/>
            <a:ext cx="1807319" cy="18330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F47263EF-20E5-77F2-80D0-D6AEF3988CD8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2338873"/>
            <a:ext cx="1807319" cy="16557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1F514552-08B8-8AC7-8AAB-01050B87A80A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2541581"/>
            <a:ext cx="1807319" cy="14530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Gerader Verbinder 109">
            <a:extLst>
              <a:ext uri="{FF2B5EF4-FFF2-40B4-BE49-F238E27FC236}">
                <a16:creationId xmlns:a16="http://schemas.microsoft.com/office/drawing/2014/main" id="{2DC52102-2390-D729-F1DD-B1AD04860839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2717082"/>
            <a:ext cx="1807319" cy="12775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D0C6F4A7-3477-6ADC-302A-C3D9B0914E6B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2879637"/>
            <a:ext cx="1807319" cy="11149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Gerader Verbinder 115">
            <a:extLst>
              <a:ext uri="{FF2B5EF4-FFF2-40B4-BE49-F238E27FC236}">
                <a16:creationId xmlns:a16="http://schemas.microsoft.com/office/drawing/2014/main" id="{026E8F92-7927-E106-D64B-F43B15093F81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3115811"/>
            <a:ext cx="1807319" cy="8788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Gerader Verbinder 118">
            <a:extLst>
              <a:ext uri="{FF2B5EF4-FFF2-40B4-BE49-F238E27FC236}">
                <a16:creationId xmlns:a16="http://schemas.microsoft.com/office/drawing/2014/main" id="{090573E6-5027-B148-EFCE-3097E27CB4CB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3290596"/>
            <a:ext cx="1807319" cy="7040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Gerader Verbinder 121">
            <a:extLst>
              <a:ext uri="{FF2B5EF4-FFF2-40B4-BE49-F238E27FC236}">
                <a16:creationId xmlns:a16="http://schemas.microsoft.com/office/drawing/2014/main" id="{90C17628-0A4A-3634-40EC-667173691319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3450755"/>
            <a:ext cx="1807319" cy="5438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Gerader Verbinder 124">
            <a:extLst>
              <a:ext uri="{FF2B5EF4-FFF2-40B4-BE49-F238E27FC236}">
                <a16:creationId xmlns:a16="http://schemas.microsoft.com/office/drawing/2014/main" id="{3BB48592-229C-9891-D505-638C5EA4BF48}"/>
              </a:ext>
            </a:extLst>
          </p:cNvPr>
          <p:cNvCxnSpPr>
            <a:cxnSpLocks/>
            <a:stCxn id="9" idx="3"/>
            <a:endCxn id="12" idx="2"/>
          </p:cNvCxnSpPr>
          <p:nvPr/>
        </p:nvCxnSpPr>
        <p:spPr>
          <a:xfrm>
            <a:off x="8435366" y="3649299"/>
            <a:ext cx="1807319" cy="3453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5006C65A-FF56-70FD-6714-91E5613BDCF0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3841411"/>
            <a:ext cx="1807319" cy="1532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Gerader Verbinder 130">
            <a:extLst>
              <a:ext uri="{FF2B5EF4-FFF2-40B4-BE49-F238E27FC236}">
                <a16:creationId xmlns:a16="http://schemas.microsoft.com/office/drawing/2014/main" id="{CB124B95-FB53-C501-455E-CC9CEB7A46B8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70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Gerader Verbinder 133">
            <a:extLst>
              <a:ext uri="{FF2B5EF4-FFF2-40B4-BE49-F238E27FC236}">
                <a16:creationId xmlns:a16="http://schemas.microsoft.com/office/drawing/2014/main" id="{2F88C358-5C86-3E3C-3D67-783A23A80022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2121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Gerader Verbinder 136">
            <a:extLst>
              <a:ext uri="{FF2B5EF4-FFF2-40B4-BE49-F238E27FC236}">
                <a16:creationId xmlns:a16="http://schemas.microsoft.com/office/drawing/2014/main" id="{1465150B-CA91-872E-79BD-24C02A6AF9C9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4005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Gerader Verbinder 139">
            <a:extLst>
              <a:ext uri="{FF2B5EF4-FFF2-40B4-BE49-F238E27FC236}">
                <a16:creationId xmlns:a16="http://schemas.microsoft.com/office/drawing/2014/main" id="{294F0E08-031B-9B47-0F53-C2725932A331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5537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Gerader Verbinder 142">
            <a:extLst>
              <a:ext uri="{FF2B5EF4-FFF2-40B4-BE49-F238E27FC236}">
                <a16:creationId xmlns:a16="http://schemas.microsoft.com/office/drawing/2014/main" id="{DE81C191-A3F4-AF3C-532B-C17BA561FAA0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7707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Gerader Verbinder 145">
            <a:extLst>
              <a:ext uri="{FF2B5EF4-FFF2-40B4-BE49-F238E27FC236}">
                <a16:creationId xmlns:a16="http://schemas.microsoft.com/office/drawing/2014/main" id="{A4EFCED1-216A-2606-26E1-D1DE00BE597D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9497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C127AD3B-C118-339D-C0C8-FFACF599113D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11559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Gerader Verbinder 151">
            <a:extLst>
              <a:ext uri="{FF2B5EF4-FFF2-40B4-BE49-F238E27FC236}">
                <a16:creationId xmlns:a16="http://schemas.microsoft.com/office/drawing/2014/main" id="{342DB15A-8497-6C52-0F53-AB0025E93ED2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13070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Gerader Verbinder 154">
            <a:extLst>
              <a:ext uri="{FF2B5EF4-FFF2-40B4-BE49-F238E27FC236}">
                <a16:creationId xmlns:a16="http://schemas.microsoft.com/office/drawing/2014/main" id="{F4B15ABC-F279-C94A-4A89-C1300FC64F64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15483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Gerader Verbinder 157">
            <a:extLst>
              <a:ext uri="{FF2B5EF4-FFF2-40B4-BE49-F238E27FC236}">
                <a16:creationId xmlns:a16="http://schemas.microsoft.com/office/drawing/2014/main" id="{BCCA54FC-5D7C-8A9A-0EA4-194A18D3B2D9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17056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Gerader Verbinder 160">
            <a:extLst>
              <a:ext uri="{FF2B5EF4-FFF2-40B4-BE49-F238E27FC236}">
                <a16:creationId xmlns:a16="http://schemas.microsoft.com/office/drawing/2014/main" id="{7F623E2C-E3A0-42B3-7383-7981F4AF28E7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18792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805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CAD7CE7-A242-0A78-BFBF-3B2721A57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Feeding</a:t>
            </a:r>
            <a:r>
              <a:rPr lang="de-DE" dirty="0"/>
              <a:t> </a:t>
            </a:r>
            <a:r>
              <a:rPr lang="de-DE" dirty="0" err="1"/>
              <a:t>images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fully-</a:t>
            </a:r>
            <a:r>
              <a:rPr lang="de-DE" dirty="0" err="1"/>
              <a:t>connected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</a:t>
            </a:r>
            <a:r>
              <a:rPr lang="de-DE" dirty="0" err="1"/>
              <a:t>networks</a:t>
            </a:r>
            <a:endParaRPr lang="en-US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64E1D21A-BFE4-1DA7-B82F-728EECE3EFC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80710392"/>
              </p:ext>
            </p:extLst>
          </p:nvPr>
        </p:nvGraphicFramePr>
        <p:xfrm>
          <a:off x="838201" y="1825625"/>
          <a:ext cx="4175450" cy="3978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090">
                  <a:extLst>
                    <a:ext uri="{9D8B030D-6E8A-4147-A177-3AD203B41FA5}">
                      <a16:colId xmlns:a16="http://schemas.microsoft.com/office/drawing/2014/main" val="1167103484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297176560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36139935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78572269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3500409737"/>
                    </a:ext>
                  </a:extLst>
                </a:gridCol>
              </a:tblGrid>
              <a:tr h="79560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27135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7638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87328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711877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326310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7A5A6B0B-067D-1A9F-7981-46921708D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3049"/>
              </p:ext>
            </p:extLst>
          </p:nvPr>
        </p:nvGraphicFramePr>
        <p:xfrm>
          <a:off x="8242041" y="1325637"/>
          <a:ext cx="193325" cy="4647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25">
                  <a:extLst>
                    <a:ext uri="{9D8B030D-6E8A-4147-A177-3AD203B41FA5}">
                      <a16:colId xmlns:a16="http://schemas.microsoft.com/office/drawing/2014/main" val="3813275540"/>
                    </a:ext>
                  </a:extLst>
                </a:gridCol>
              </a:tblGrid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352197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200808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16200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35381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542008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11067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15860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447237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313624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74592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301444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797479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296100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48240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93814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04400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479349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18962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158623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177156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894887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583999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28191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434911"/>
                  </a:ext>
                </a:extLst>
              </a:tr>
              <a:tr h="185893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837" marR="45837" marT="22918" marB="229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862169"/>
                  </a:ext>
                </a:extLst>
              </a:tr>
            </a:tbl>
          </a:graphicData>
        </a:graphic>
      </p:graphicFrame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8D9277C9-C64B-940A-7B4A-9870072EA693}"/>
              </a:ext>
            </a:extLst>
          </p:cNvPr>
          <p:cNvSpPr/>
          <p:nvPr/>
        </p:nvSpPr>
        <p:spPr>
          <a:xfrm>
            <a:off x="5881397" y="3189766"/>
            <a:ext cx="1492898" cy="9190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3D5795C4-6540-FB3E-04C7-2FE14F7E6419}"/>
              </a:ext>
            </a:extLst>
          </p:cNvPr>
          <p:cNvGrpSpPr/>
          <p:nvPr/>
        </p:nvGrpSpPr>
        <p:grpSpPr>
          <a:xfrm>
            <a:off x="10242685" y="3189766"/>
            <a:ext cx="360000" cy="984866"/>
            <a:chOff x="10242685" y="3123965"/>
            <a:chExt cx="360000" cy="984866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665ABF59-F111-54BB-C489-ECE5A03D2B80}"/>
                </a:ext>
              </a:extLst>
            </p:cNvPr>
            <p:cNvSpPr/>
            <p:nvPr/>
          </p:nvSpPr>
          <p:spPr>
            <a:xfrm>
              <a:off x="10242685" y="3123965"/>
              <a:ext cx="360000" cy="3600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E028A48E-B208-9517-D5BC-DBBEFFABD878}"/>
                </a:ext>
              </a:extLst>
            </p:cNvPr>
            <p:cNvSpPr/>
            <p:nvPr/>
          </p:nvSpPr>
          <p:spPr>
            <a:xfrm>
              <a:off x="10242685" y="3748831"/>
              <a:ext cx="360000" cy="36000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CDD61AA-97E0-D958-F7CC-8C5BE10AFECE}"/>
              </a:ext>
            </a:extLst>
          </p:cNvPr>
          <p:cNvCxnSpPr>
            <a:endCxn id="11" idx="2"/>
          </p:cNvCxnSpPr>
          <p:nvPr/>
        </p:nvCxnSpPr>
        <p:spPr>
          <a:xfrm>
            <a:off x="8435366" y="1399592"/>
            <a:ext cx="1807319" cy="19701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29A2774A-7DC9-FE81-CC88-FF06749D3A7D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35366" y="1604865"/>
            <a:ext cx="1807319" cy="17649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542787E7-C91E-A843-EAE1-D213FED8CEE5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35366" y="1764643"/>
            <a:ext cx="1807319" cy="16051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FE98DDA2-7663-0A33-10F3-49CCE5DA3560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35366" y="1950098"/>
            <a:ext cx="1807319" cy="14196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45459BA5-C024-4B5D-6D55-93C44A977327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35366" y="2146041"/>
            <a:ext cx="1807319" cy="12237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3762C5D1-7E34-4626-1AF3-44C6AF2EAD9A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35366" y="2338873"/>
            <a:ext cx="1807319" cy="1030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0AADD750-46AE-36D1-E057-2233755D4EA2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35366" y="2541581"/>
            <a:ext cx="1807319" cy="8281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BBC1DCB7-56E1-AD7C-D292-69EDF72F643A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35366" y="2725155"/>
            <a:ext cx="1807319" cy="6446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2795A1B6-3D50-CA06-01E1-F6DFE084C16D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35366" y="2879638"/>
            <a:ext cx="1807319" cy="4901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3676769B-C397-221A-3FE2-71E8A4C6A470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35366" y="3115811"/>
            <a:ext cx="1807319" cy="2539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34AD2765-AA95-F678-8A21-64788C78ADA2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435366" y="3290596"/>
            <a:ext cx="1807319" cy="791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41A0123A-3B2E-9E9D-ACA0-CC6B39935E65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739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1357C0C1-3447-8817-273E-27E670D6D8E6}"/>
              </a:ext>
            </a:extLst>
          </p:cNvPr>
          <p:cNvCxnSpPr>
            <a:cxnSpLocks/>
            <a:stCxn id="9" idx="3"/>
            <a:endCxn id="11" idx="2"/>
          </p:cNvCxnSpPr>
          <p:nvPr/>
        </p:nvCxnSpPr>
        <p:spPr>
          <a:xfrm flipV="1">
            <a:off x="8435366" y="3369766"/>
            <a:ext cx="1807319" cy="2795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D95DAB02-53A7-63A2-5F52-ED0D21C0737A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4646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B1575AB1-3AC5-901E-63CF-A5A05ED471C9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6446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F62AA32C-DB63-6E2D-A975-C2704666D515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8369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3A4358D4-C3F5-5100-0A88-F5F8E025925C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10254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0370E5BE-2282-0564-AC8C-A987B3F686EE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11907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8C5C69B9-3FF1-02A4-504A-E193A2D0EDF4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14093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FC0546EF-2071-9BF6-B1E0-1CF58701B144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15746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AE3076DC-6745-EAE1-6F8D-BB2D582B5A5C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17666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3CF8848A-E225-74E0-447A-EB040A308A92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1931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E54A151C-FB07-01A4-D3B5-C76425CAFB6E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21731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766ED2CA-CF5A-C858-E3FF-EB7073E0EC00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2331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86A88B97-0B3E-0953-686C-A57422C7A371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8435366" y="3369766"/>
            <a:ext cx="1807319" cy="24971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1424BD9B-512E-730B-1331-334FD5CB865A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1419787"/>
            <a:ext cx="1807319" cy="25748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BA2BA71C-8D1D-A609-1271-B89949A3B86A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1604865"/>
            <a:ext cx="1807319" cy="23897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74202945-B396-8E48-2416-734B5F1EB88D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1764643"/>
            <a:ext cx="1807319" cy="22299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4ABB6C3D-0B81-3265-B494-F852DF8FF18A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1950098"/>
            <a:ext cx="1807319" cy="20445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D9E244B1-0C1B-C9C9-16B1-C08775FF2F4D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2161630"/>
            <a:ext cx="1807319" cy="18330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F47263EF-20E5-77F2-80D0-D6AEF3988CD8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2338873"/>
            <a:ext cx="1807319" cy="16557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1F514552-08B8-8AC7-8AAB-01050B87A80A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2541581"/>
            <a:ext cx="1807319" cy="14530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Gerader Verbinder 109">
            <a:extLst>
              <a:ext uri="{FF2B5EF4-FFF2-40B4-BE49-F238E27FC236}">
                <a16:creationId xmlns:a16="http://schemas.microsoft.com/office/drawing/2014/main" id="{2DC52102-2390-D729-F1DD-B1AD04860839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2717082"/>
            <a:ext cx="1807319" cy="12775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D0C6F4A7-3477-6ADC-302A-C3D9B0914E6B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2879637"/>
            <a:ext cx="1807319" cy="11149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Gerader Verbinder 115">
            <a:extLst>
              <a:ext uri="{FF2B5EF4-FFF2-40B4-BE49-F238E27FC236}">
                <a16:creationId xmlns:a16="http://schemas.microsoft.com/office/drawing/2014/main" id="{026E8F92-7927-E106-D64B-F43B15093F81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3115811"/>
            <a:ext cx="1807319" cy="8788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Gerader Verbinder 118">
            <a:extLst>
              <a:ext uri="{FF2B5EF4-FFF2-40B4-BE49-F238E27FC236}">
                <a16:creationId xmlns:a16="http://schemas.microsoft.com/office/drawing/2014/main" id="{090573E6-5027-B148-EFCE-3097E27CB4CB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3290596"/>
            <a:ext cx="1807319" cy="7040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Gerader Verbinder 121">
            <a:extLst>
              <a:ext uri="{FF2B5EF4-FFF2-40B4-BE49-F238E27FC236}">
                <a16:creationId xmlns:a16="http://schemas.microsoft.com/office/drawing/2014/main" id="{90C17628-0A4A-3634-40EC-667173691319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3450755"/>
            <a:ext cx="1807319" cy="5438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Gerader Verbinder 124">
            <a:extLst>
              <a:ext uri="{FF2B5EF4-FFF2-40B4-BE49-F238E27FC236}">
                <a16:creationId xmlns:a16="http://schemas.microsoft.com/office/drawing/2014/main" id="{3BB48592-229C-9891-D505-638C5EA4BF48}"/>
              </a:ext>
            </a:extLst>
          </p:cNvPr>
          <p:cNvCxnSpPr>
            <a:cxnSpLocks/>
            <a:stCxn id="9" idx="3"/>
            <a:endCxn id="12" idx="2"/>
          </p:cNvCxnSpPr>
          <p:nvPr/>
        </p:nvCxnSpPr>
        <p:spPr>
          <a:xfrm>
            <a:off x="8435366" y="3649299"/>
            <a:ext cx="1807319" cy="3453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5006C65A-FF56-70FD-6714-91E5613BDCF0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435366" y="3841411"/>
            <a:ext cx="1807319" cy="1532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Gerader Verbinder 130">
            <a:extLst>
              <a:ext uri="{FF2B5EF4-FFF2-40B4-BE49-F238E27FC236}">
                <a16:creationId xmlns:a16="http://schemas.microsoft.com/office/drawing/2014/main" id="{CB124B95-FB53-C501-455E-CC9CEB7A46B8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70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Gerader Verbinder 133">
            <a:extLst>
              <a:ext uri="{FF2B5EF4-FFF2-40B4-BE49-F238E27FC236}">
                <a16:creationId xmlns:a16="http://schemas.microsoft.com/office/drawing/2014/main" id="{2F88C358-5C86-3E3C-3D67-783A23A80022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2121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Gerader Verbinder 136">
            <a:extLst>
              <a:ext uri="{FF2B5EF4-FFF2-40B4-BE49-F238E27FC236}">
                <a16:creationId xmlns:a16="http://schemas.microsoft.com/office/drawing/2014/main" id="{1465150B-CA91-872E-79BD-24C02A6AF9C9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4005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Gerader Verbinder 139">
            <a:extLst>
              <a:ext uri="{FF2B5EF4-FFF2-40B4-BE49-F238E27FC236}">
                <a16:creationId xmlns:a16="http://schemas.microsoft.com/office/drawing/2014/main" id="{294F0E08-031B-9B47-0F53-C2725932A331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5537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Gerader Verbinder 142">
            <a:extLst>
              <a:ext uri="{FF2B5EF4-FFF2-40B4-BE49-F238E27FC236}">
                <a16:creationId xmlns:a16="http://schemas.microsoft.com/office/drawing/2014/main" id="{DE81C191-A3F4-AF3C-532B-C17BA561FAA0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7707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Gerader Verbinder 145">
            <a:extLst>
              <a:ext uri="{FF2B5EF4-FFF2-40B4-BE49-F238E27FC236}">
                <a16:creationId xmlns:a16="http://schemas.microsoft.com/office/drawing/2014/main" id="{A4EFCED1-216A-2606-26E1-D1DE00BE597D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9497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C127AD3B-C118-339D-C0C8-FFACF599113D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11559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Gerader Verbinder 151">
            <a:extLst>
              <a:ext uri="{FF2B5EF4-FFF2-40B4-BE49-F238E27FC236}">
                <a16:creationId xmlns:a16="http://schemas.microsoft.com/office/drawing/2014/main" id="{342DB15A-8497-6C52-0F53-AB0025E93ED2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13070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Gerader Verbinder 154">
            <a:extLst>
              <a:ext uri="{FF2B5EF4-FFF2-40B4-BE49-F238E27FC236}">
                <a16:creationId xmlns:a16="http://schemas.microsoft.com/office/drawing/2014/main" id="{F4B15ABC-F279-C94A-4A89-C1300FC64F64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15483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Gerader Verbinder 157">
            <a:extLst>
              <a:ext uri="{FF2B5EF4-FFF2-40B4-BE49-F238E27FC236}">
                <a16:creationId xmlns:a16="http://schemas.microsoft.com/office/drawing/2014/main" id="{BCCA54FC-5D7C-8A9A-0EA4-194A18D3B2D9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17056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Gerader Verbinder 160">
            <a:extLst>
              <a:ext uri="{FF2B5EF4-FFF2-40B4-BE49-F238E27FC236}">
                <a16:creationId xmlns:a16="http://schemas.microsoft.com/office/drawing/2014/main" id="{7F623E2C-E3A0-42B3-7383-7981F4AF28E7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435366" y="3994632"/>
            <a:ext cx="1807319" cy="18792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426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110020-4381-03FC-0ECB-31571B979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Let‘s</a:t>
            </a:r>
            <a:r>
              <a:rPr lang="de-DE" dirty="0"/>
              <a:t> </a:t>
            </a:r>
            <a:r>
              <a:rPr lang="de-DE" dirty="0" err="1"/>
              <a:t>build</a:t>
            </a:r>
            <a:r>
              <a:rPr lang="de-DE" dirty="0"/>
              <a:t> a zero-</a:t>
            </a:r>
            <a:r>
              <a:rPr lang="de-DE" dirty="0" err="1"/>
              <a:t>detector</a:t>
            </a:r>
            <a:endParaRPr lang="en-US" dirty="0"/>
          </a:p>
        </p:txBody>
      </p:sp>
      <p:graphicFrame>
        <p:nvGraphicFramePr>
          <p:cNvPr id="6" name="Inhaltsplatzhalter 6">
            <a:extLst>
              <a:ext uri="{FF2B5EF4-FFF2-40B4-BE49-F238E27FC236}">
                <a16:creationId xmlns:a16="http://schemas.microsoft.com/office/drawing/2014/main" id="{3BA886DF-A9DA-1BB1-5477-996EECC243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8571346"/>
              </p:ext>
            </p:extLst>
          </p:nvPr>
        </p:nvGraphicFramePr>
        <p:xfrm>
          <a:off x="838201" y="1825625"/>
          <a:ext cx="4175450" cy="3978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090">
                  <a:extLst>
                    <a:ext uri="{9D8B030D-6E8A-4147-A177-3AD203B41FA5}">
                      <a16:colId xmlns:a16="http://schemas.microsoft.com/office/drawing/2014/main" val="1167103484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297176560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36139935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78572269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3500409737"/>
                    </a:ext>
                  </a:extLst>
                </a:gridCol>
              </a:tblGrid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27135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7638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87328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711877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326310"/>
                  </a:ext>
                </a:extLst>
              </a:tr>
            </a:tbl>
          </a:graphicData>
        </a:graphic>
      </p:graphicFrame>
      <p:sp>
        <p:nvSpPr>
          <p:cNvPr id="7" name="Rahmen 6">
            <a:extLst>
              <a:ext uri="{FF2B5EF4-FFF2-40B4-BE49-F238E27FC236}">
                <a16:creationId xmlns:a16="http://schemas.microsoft.com/office/drawing/2014/main" id="{4118079F-2996-1F9E-6ED0-17007E66582E}"/>
              </a:ext>
            </a:extLst>
          </p:cNvPr>
          <p:cNvSpPr/>
          <p:nvPr/>
        </p:nvSpPr>
        <p:spPr>
          <a:xfrm>
            <a:off x="768350" y="1758950"/>
            <a:ext cx="2622550" cy="2514600"/>
          </a:xfrm>
          <a:prstGeom prst="frame">
            <a:avLst>
              <a:gd name="adj1" fmla="val 260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3438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110020-4381-03FC-0ECB-31571B979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Let‘s</a:t>
            </a:r>
            <a:r>
              <a:rPr lang="de-DE" dirty="0"/>
              <a:t> </a:t>
            </a:r>
            <a:r>
              <a:rPr lang="de-DE" dirty="0" err="1"/>
              <a:t>build</a:t>
            </a:r>
            <a:r>
              <a:rPr lang="de-DE" dirty="0"/>
              <a:t> a zero-</a:t>
            </a:r>
            <a:r>
              <a:rPr lang="de-DE" dirty="0" err="1"/>
              <a:t>detector</a:t>
            </a:r>
            <a:endParaRPr lang="en-US" dirty="0"/>
          </a:p>
        </p:txBody>
      </p:sp>
      <p:graphicFrame>
        <p:nvGraphicFramePr>
          <p:cNvPr id="6" name="Inhaltsplatzhalter 6">
            <a:extLst>
              <a:ext uri="{FF2B5EF4-FFF2-40B4-BE49-F238E27FC236}">
                <a16:creationId xmlns:a16="http://schemas.microsoft.com/office/drawing/2014/main" id="{3BA886DF-A9DA-1BB1-5477-996EECC243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6655068"/>
              </p:ext>
            </p:extLst>
          </p:nvPr>
        </p:nvGraphicFramePr>
        <p:xfrm>
          <a:off x="838201" y="1825625"/>
          <a:ext cx="4175450" cy="3978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090">
                  <a:extLst>
                    <a:ext uri="{9D8B030D-6E8A-4147-A177-3AD203B41FA5}">
                      <a16:colId xmlns:a16="http://schemas.microsoft.com/office/drawing/2014/main" val="1167103484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297176560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36139935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78572269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3500409737"/>
                    </a:ext>
                  </a:extLst>
                </a:gridCol>
              </a:tblGrid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27135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7638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87328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711877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326310"/>
                  </a:ext>
                </a:extLst>
              </a:tr>
            </a:tbl>
          </a:graphicData>
        </a:graphic>
      </p:graphicFrame>
      <p:sp>
        <p:nvSpPr>
          <p:cNvPr id="7" name="Rahmen 6">
            <a:extLst>
              <a:ext uri="{FF2B5EF4-FFF2-40B4-BE49-F238E27FC236}">
                <a16:creationId xmlns:a16="http://schemas.microsoft.com/office/drawing/2014/main" id="{4118079F-2996-1F9E-6ED0-17007E66582E}"/>
              </a:ext>
            </a:extLst>
          </p:cNvPr>
          <p:cNvSpPr/>
          <p:nvPr/>
        </p:nvSpPr>
        <p:spPr>
          <a:xfrm>
            <a:off x="768350" y="1758950"/>
            <a:ext cx="2622550" cy="2514600"/>
          </a:xfrm>
          <a:prstGeom prst="frame">
            <a:avLst>
              <a:gd name="adj1" fmla="val 260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D1B7702E-FE25-B31A-302F-71BFE1B60384}"/>
              </a:ext>
            </a:extLst>
          </p:cNvPr>
          <p:cNvGraphicFramePr>
            <a:graphicFrameLocks noGrp="1"/>
          </p:cNvGraphicFramePr>
          <p:nvPr/>
        </p:nvGraphicFramePr>
        <p:xfrm>
          <a:off x="8121651" y="2891365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7CE5F5E6-AB94-9F78-9C60-BD714EA2B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400111"/>
              </p:ext>
            </p:extLst>
          </p:nvPr>
        </p:nvGraphicFramePr>
        <p:xfrm>
          <a:off x="6000751" y="2891365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9" name="Rahmen 8">
            <a:extLst>
              <a:ext uri="{FF2B5EF4-FFF2-40B4-BE49-F238E27FC236}">
                <a16:creationId xmlns:a16="http://schemas.microsoft.com/office/drawing/2014/main" id="{A02EDE25-9779-5A32-F285-135DCBAA31FD}"/>
              </a:ext>
            </a:extLst>
          </p:cNvPr>
          <p:cNvSpPr/>
          <p:nvPr/>
        </p:nvSpPr>
        <p:spPr>
          <a:xfrm>
            <a:off x="6000751" y="2838450"/>
            <a:ext cx="1695450" cy="1727200"/>
          </a:xfrm>
          <a:prstGeom prst="frame">
            <a:avLst>
              <a:gd name="adj1" fmla="val 260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C868216-7CFB-EB36-1364-238366B6E798}"/>
              </a:ext>
            </a:extLst>
          </p:cNvPr>
          <p:cNvSpPr txBox="1"/>
          <p:nvPr/>
        </p:nvSpPr>
        <p:spPr>
          <a:xfrm>
            <a:off x="10026650" y="3429000"/>
            <a:ext cx="1695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= 8</a:t>
            </a:r>
            <a:endParaRPr lang="en-US" sz="36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5A105DF-F414-C9BC-1A8B-B77F4A5695BF}"/>
              </a:ext>
            </a:extLst>
          </p:cNvPr>
          <p:cNvSpPr txBox="1"/>
          <p:nvPr/>
        </p:nvSpPr>
        <p:spPr>
          <a:xfrm>
            <a:off x="7696201" y="3491466"/>
            <a:ext cx="1695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*</a:t>
            </a:r>
            <a:endParaRPr lang="en-US" sz="36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6D81466-1865-8C8F-A50E-ADFB01372441}"/>
              </a:ext>
            </a:extLst>
          </p:cNvPr>
          <p:cNvSpPr txBox="1"/>
          <p:nvPr/>
        </p:nvSpPr>
        <p:spPr>
          <a:xfrm>
            <a:off x="6477000" y="4618565"/>
            <a:ext cx="169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kernel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745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110020-4381-03FC-0ECB-31571B979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Let‘s</a:t>
            </a:r>
            <a:r>
              <a:rPr lang="de-DE" dirty="0"/>
              <a:t> </a:t>
            </a:r>
            <a:r>
              <a:rPr lang="de-DE" dirty="0" err="1"/>
              <a:t>build</a:t>
            </a:r>
            <a:r>
              <a:rPr lang="de-DE" dirty="0"/>
              <a:t> a zero-</a:t>
            </a:r>
            <a:r>
              <a:rPr lang="de-DE" dirty="0" err="1"/>
              <a:t>detector</a:t>
            </a:r>
            <a:endParaRPr lang="en-US" dirty="0"/>
          </a:p>
        </p:txBody>
      </p:sp>
      <p:graphicFrame>
        <p:nvGraphicFramePr>
          <p:cNvPr id="6" name="Inhaltsplatzhalter 6">
            <a:extLst>
              <a:ext uri="{FF2B5EF4-FFF2-40B4-BE49-F238E27FC236}">
                <a16:creationId xmlns:a16="http://schemas.microsoft.com/office/drawing/2014/main" id="{3BA886DF-A9DA-1BB1-5477-996EECC243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1057337"/>
              </p:ext>
            </p:extLst>
          </p:nvPr>
        </p:nvGraphicFramePr>
        <p:xfrm>
          <a:off x="838201" y="1825625"/>
          <a:ext cx="4175450" cy="3978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090">
                  <a:extLst>
                    <a:ext uri="{9D8B030D-6E8A-4147-A177-3AD203B41FA5}">
                      <a16:colId xmlns:a16="http://schemas.microsoft.com/office/drawing/2014/main" val="1167103484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297176560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36139935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78572269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3500409737"/>
                    </a:ext>
                  </a:extLst>
                </a:gridCol>
              </a:tblGrid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27135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7638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87328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711877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326310"/>
                  </a:ext>
                </a:extLst>
              </a:tr>
            </a:tbl>
          </a:graphicData>
        </a:graphic>
      </p:graphicFrame>
      <p:sp>
        <p:nvSpPr>
          <p:cNvPr id="7" name="Rahmen 6">
            <a:extLst>
              <a:ext uri="{FF2B5EF4-FFF2-40B4-BE49-F238E27FC236}">
                <a16:creationId xmlns:a16="http://schemas.microsoft.com/office/drawing/2014/main" id="{4118079F-2996-1F9E-6ED0-17007E66582E}"/>
              </a:ext>
            </a:extLst>
          </p:cNvPr>
          <p:cNvSpPr/>
          <p:nvPr/>
        </p:nvSpPr>
        <p:spPr>
          <a:xfrm>
            <a:off x="1598776" y="1752600"/>
            <a:ext cx="2622550" cy="2514600"/>
          </a:xfrm>
          <a:prstGeom prst="frame">
            <a:avLst>
              <a:gd name="adj1" fmla="val 260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D1B7702E-FE25-B31A-302F-71BFE1B60384}"/>
              </a:ext>
            </a:extLst>
          </p:cNvPr>
          <p:cNvGraphicFramePr>
            <a:graphicFrameLocks noGrp="1"/>
          </p:cNvGraphicFramePr>
          <p:nvPr/>
        </p:nvGraphicFramePr>
        <p:xfrm>
          <a:off x="8121651" y="2891365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7CE5F5E6-AB94-9F78-9C60-BD714EA2B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792036"/>
              </p:ext>
            </p:extLst>
          </p:nvPr>
        </p:nvGraphicFramePr>
        <p:xfrm>
          <a:off x="6000751" y="2891365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9" name="Rahmen 8">
            <a:extLst>
              <a:ext uri="{FF2B5EF4-FFF2-40B4-BE49-F238E27FC236}">
                <a16:creationId xmlns:a16="http://schemas.microsoft.com/office/drawing/2014/main" id="{A02EDE25-9779-5A32-F285-135DCBAA31FD}"/>
              </a:ext>
            </a:extLst>
          </p:cNvPr>
          <p:cNvSpPr/>
          <p:nvPr/>
        </p:nvSpPr>
        <p:spPr>
          <a:xfrm>
            <a:off x="6000751" y="2838450"/>
            <a:ext cx="1695450" cy="1727200"/>
          </a:xfrm>
          <a:prstGeom prst="frame">
            <a:avLst>
              <a:gd name="adj1" fmla="val 260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C868216-7CFB-EB36-1364-238366B6E798}"/>
              </a:ext>
            </a:extLst>
          </p:cNvPr>
          <p:cNvSpPr txBox="1"/>
          <p:nvPr/>
        </p:nvSpPr>
        <p:spPr>
          <a:xfrm>
            <a:off x="10026650" y="3429000"/>
            <a:ext cx="1695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= 3</a:t>
            </a:r>
            <a:endParaRPr lang="en-US" sz="36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5A105DF-F414-C9BC-1A8B-B77F4A5695BF}"/>
              </a:ext>
            </a:extLst>
          </p:cNvPr>
          <p:cNvSpPr txBox="1"/>
          <p:nvPr/>
        </p:nvSpPr>
        <p:spPr>
          <a:xfrm>
            <a:off x="7696201" y="3491466"/>
            <a:ext cx="1695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*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82630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110020-4381-03FC-0ECB-31571B979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Let‘s</a:t>
            </a:r>
            <a:r>
              <a:rPr lang="de-DE" dirty="0"/>
              <a:t> </a:t>
            </a:r>
            <a:r>
              <a:rPr lang="de-DE" dirty="0" err="1"/>
              <a:t>build</a:t>
            </a:r>
            <a:r>
              <a:rPr lang="de-DE" dirty="0"/>
              <a:t> a zero-</a:t>
            </a:r>
            <a:r>
              <a:rPr lang="de-DE" dirty="0" err="1"/>
              <a:t>detector</a:t>
            </a:r>
            <a:endParaRPr lang="en-US" dirty="0"/>
          </a:p>
        </p:txBody>
      </p:sp>
      <p:graphicFrame>
        <p:nvGraphicFramePr>
          <p:cNvPr id="6" name="Inhaltsplatzhalter 6">
            <a:extLst>
              <a:ext uri="{FF2B5EF4-FFF2-40B4-BE49-F238E27FC236}">
                <a16:creationId xmlns:a16="http://schemas.microsoft.com/office/drawing/2014/main" id="{3BA886DF-A9DA-1BB1-5477-996EECC243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2159389"/>
              </p:ext>
            </p:extLst>
          </p:nvPr>
        </p:nvGraphicFramePr>
        <p:xfrm>
          <a:off x="838201" y="1825625"/>
          <a:ext cx="4175450" cy="3978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090">
                  <a:extLst>
                    <a:ext uri="{9D8B030D-6E8A-4147-A177-3AD203B41FA5}">
                      <a16:colId xmlns:a16="http://schemas.microsoft.com/office/drawing/2014/main" val="1167103484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297176560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36139935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78572269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3500409737"/>
                    </a:ext>
                  </a:extLst>
                </a:gridCol>
              </a:tblGrid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27135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7638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87328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711877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326310"/>
                  </a:ext>
                </a:extLst>
              </a:tr>
            </a:tbl>
          </a:graphicData>
        </a:graphic>
      </p:graphicFrame>
      <p:sp>
        <p:nvSpPr>
          <p:cNvPr id="7" name="Rahmen 6">
            <a:extLst>
              <a:ext uri="{FF2B5EF4-FFF2-40B4-BE49-F238E27FC236}">
                <a16:creationId xmlns:a16="http://schemas.microsoft.com/office/drawing/2014/main" id="{4118079F-2996-1F9E-6ED0-17007E66582E}"/>
              </a:ext>
            </a:extLst>
          </p:cNvPr>
          <p:cNvSpPr/>
          <p:nvPr/>
        </p:nvSpPr>
        <p:spPr>
          <a:xfrm>
            <a:off x="2463799" y="1758950"/>
            <a:ext cx="2561127" cy="2514600"/>
          </a:xfrm>
          <a:prstGeom prst="frame">
            <a:avLst>
              <a:gd name="adj1" fmla="val 260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D1B7702E-FE25-B31A-302F-71BFE1B60384}"/>
              </a:ext>
            </a:extLst>
          </p:cNvPr>
          <p:cNvGraphicFramePr>
            <a:graphicFrameLocks noGrp="1"/>
          </p:cNvGraphicFramePr>
          <p:nvPr/>
        </p:nvGraphicFramePr>
        <p:xfrm>
          <a:off x="8121651" y="2891365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7CE5F5E6-AB94-9F78-9C60-BD714EA2B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770618"/>
              </p:ext>
            </p:extLst>
          </p:nvPr>
        </p:nvGraphicFramePr>
        <p:xfrm>
          <a:off x="6000751" y="2891365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9" name="Rahmen 8">
            <a:extLst>
              <a:ext uri="{FF2B5EF4-FFF2-40B4-BE49-F238E27FC236}">
                <a16:creationId xmlns:a16="http://schemas.microsoft.com/office/drawing/2014/main" id="{A02EDE25-9779-5A32-F285-135DCBAA31FD}"/>
              </a:ext>
            </a:extLst>
          </p:cNvPr>
          <p:cNvSpPr/>
          <p:nvPr/>
        </p:nvSpPr>
        <p:spPr>
          <a:xfrm>
            <a:off x="6000751" y="2838450"/>
            <a:ext cx="1695450" cy="1727200"/>
          </a:xfrm>
          <a:prstGeom prst="frame">
            <a:avLst>
              <a:gd name="adj1" fmla="val 260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C868216-7CFB-EB36-1364-238366B6E798}"/>
              </a:ext>
            </a:extLst>
          </p:cNvPr>
          <p:cNvSpPr txBox="1"/>
          <p:nvPr/>
        </p:nvSpPr>
        <p:spPr>
          <a:xfrm>
            <a:off x="10026650" y="3429000"/>
            <a:ext cx="1695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= 3</a:t>
            </a:r>
            <a:endParaRPr lang="en-US" sz="36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5A105DF-F414-C9BC-1A8B-B77F4A5695BF}"/>
              </a:ext>
            </a:extLst>
          </p:cNvPr>
          <p:cNvSpPr txBox="1"/>
          <p:nvPr/>
        </p:nvSpPr>
        <p:spPr>
          <a:xfrm>
            <a:off x="7696201" y="3491466"/>
            <a:ext cx="1695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*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36399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110020-4381-03FC-0ECB-31571B979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Let‘s</a:t>
            </a:r>
            <a:r>
              <a:rPr lang="de-DE" dirty="0"/>
              <a:t> </a:t>
            </a:r>
            <a:r>
              <a:rPr lang="de-DE" dirty="0" err="1"/>
              <a:t>build</a:t>
            </a:r>
            <a:r>
              <a:rPr lang="de-DE" dirty="0"/>
              <a:t> a zero-</a:t>
            </a:r>
            <a:r>
              <a:rPr lang="de-DE" dirty="0" err="1"/>
              <a:t>detector</a:t>
            </a:r>
            <a:endParaRPr lang="en-US" dirty="0"/>
          </a:p>
        </p:txBody>
      </p:sp>
      <p:graphicFrame>
        <p:nvGraphicFramePr>
          <p:cNvPr id="6" name="Inhaltsplatzhalter 6">
            <a:extLst>
              <a:ext uri="{FF2B5EF4-FFF2-40B4-BE49-F238E27FC236}">
                <a16:creationId xmlns:a16="http://schemas.microsoft.com/office/drawing/2014/main" id="{3BA886DF-A9DA-1BB1-5477-996EECC24355}"/>
              </a:ext>
            </a:extLst>
          </p:cNvPr>
          <p:cNvGraphicFramePr>
            <a:graphicFrameLocks/>
          </p:cNvGraphicFramePr>
          <p:nvPr/>
        </p:nvGraphicFramePr>
        <p:xfrm>
          <a:off x="838201" y="1825625"/>
          <a:ext cx="4175450" cy="3978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090">
                  <a:extLst>
                    <a:ext uri="{9D8B030D-6E8A-4147-A177-3AD203B41FA5}">
                      <a16:colId xmlns:a16="http://schemas.microsoft.com/office/drawing/2014/main" val="1167103484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297176560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36139935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78572269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3500409737"/>
                    </a:ext>
                  </a:extLst>
                </a:gridCol>
              </a:tblGrid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27135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7638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87328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711877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326310"/>
                  </a:ext>
                </a:extLst>
              </a:tr>
            </a:tbl>
          </a:graphicData>
        </a:graphic>
      </p:graphicFrame>
      <p:sp>
        <p:nvSpPr>
          <p:cNvPr id="7" name="Rahmen 6">
            <a:extLst>
              <a:ext uri="{FF2B5EF4-FFF2-40B4-BE49-F238E27FC236}">
                <a16:creationId xmlns:a16="http://schemas.microsoft.com/office/drawing/2014/main" id="{4118079F-2996-1F9E-6ED0-17007E66582E}"/>
              </a:ext>
            </a:extLst>
          </p:cNvPr>
          <p:cNvSpPr/>
          <p:nvPr/>
        </p:nvSpPr>
        <p:spPr>
          <a:xfrm>
            <a:off x="781051" y="1758950"/>
            <a:ext cx="4243876" cy="412115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7CE5F5E6-AB94-9F78-9C60-BD714EA2B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539079"/>
              </p:ext>
            </p:extLst>
          </p:nvPr>
        </p:nvGraphicFramePr>
        <p:xfrm>
          <a:off x="5695951" y="2897715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9" name="Rahmen 8">
            <a:extLst>
              <a:ext uri="{FF2B5EF4-FFF2-40B4-BE49-F238E27FC236}">
                <a16:creationId xmlns:a16="http://schemas.microsoft.com/office/drawing/2014/main" id="{A02EDE25-9779-5A32-F285-135DCBAA31FD}"/>
              </a:ext>
            </a:extLst>
          </p:cNvPr>
          <p:cNvSpPr/>
          <p:nvPr/>
        </p:nvSpPr>
        <p:spPr>
          <a:xfrm>
            <a:off x="5695951" y="2844800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D97821EF-02CE-618F-46F0-0543E112E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648032"/>
              </p:ext>
            </p:extLst>
          </p:nvPr>
        </p:nvGraphicFramePr>
        <p:xfrm>
          <a:off x="7651751" y="2897715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.307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.115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.115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.115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.038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.077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.115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.077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.038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4" name="Rahmen 3">
            <a:extLst>
              <a:ext uri="{FF2B5EF4-FFF2-40B4-BE49-F238E27FC236}">
                <a16:creationId xmlns:a16="http://schemas.microsoft.com/office/drawing/2014/main" id="{A3729882-2204-AA0B-8C2D-2A452B65B196}"/>
              </a:ext>
            </a:extLst>
          </p:cNvPr>
          <p:cNvSpPr/>
          <p:nvPr/>
        </p:nvSpPr>
        <p:spPr>
          <a:xfrm>
            <a:off x="7651751" y="2844800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C7EB5A6F-8B5A-05B2-33D8-B882915F8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599089"/>
              </p:ext>
            </p:extLst>
          </p:nvPr>
        </p:nvGraphicFramePr>
        <p:xfrm>
          <a:off x="9607551" y="2897715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.967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.007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.007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.007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.001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.002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.007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.002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.001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14" name="Rahmen 13">
            <a:extLst>
              <a:ext uri="{FF2B5EF4-FFF2-40B4-BE49-F238E27FC236}">
                <a16:creationId xmlns:a16="http://schemas.microsoft.com/office/drawing/2014/main" id="{CA84BD8D-4344-4510-1725-BE5A16335830}"/>
              </a:ext>
            </a:extLst>
          </p:cNvPr>
          <p:cNvSpPr/>
          <p:nvPr/>
        </p:nvSpPr>
        <p:spPr>
          <a:xfrm>
            <a:off x="9607551" y="2844800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965D87F-F3F8-3CE3-10E9-5C1A164FE7EC}"/>
              </a:ext>
            </a:extLst>
          </p:cNvPr>
          <p:cNvSpPr txBox="1"/>
          <p:nvPr/>
        </p:nvSpPr>
        <p:spPr>
          <a:xfrm>
            <a:off x="6173190" y="2393950"/>
            <a:ext cx="740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score</a:t>
            </a:r>
            <a:endParaRPr lang="en-US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F3E16C6-C0DB-6971-12D2-4A5AB88527B8}"/>
              </a:ext>
            </a:extLst>
          </p:cNvPr>
          <p:cNvSpPr txBox="1"/>
          <p:nvPr/>
        </p:nvSpPr>
        <p:spPr>
          <a:xfrm>
            <a:off x="8183171" y="2393950"/>
            <a:ext cx="632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ratio</a:t>
            </a:r>
            <a:endParaRPr lang="en-US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F39909D-A4F2-2A44-B0F2-51BC22D96019}"/>
              </a:ext>
            </a:extLst>
          </p:cNvPr>
          <p:cNvSpPr txBox="1"/>
          <p:nvPr/>
        </p:nvSpPr>
        <p:spPr>
          <a:xfrm>
            <a:off x="9959116" y="2393950"/>
            <a:ext cx="992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softmax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FB37D891-68C9-D11E-B333-4FFE5298921C}"/>
                  </a:ext>
                </a:extLst>
              </p:cNvPr>
              <p:cNvSpPr txBox="1"/>
              <p:nvPr/>
            </p:nvSpPr>
            <p:spPr>
              <a:xfrm>
                <a:off x="9567654" y="4787900"/>
                <a:ext cx="1735347" cy="7355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acc>
                            </m:e>
                          </m:d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Sup>
                                <m:sSubSup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</m:sSubSup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FB37D891-68C9-D11E-B333-4FFE52989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7654" y="4787900"/>
                <a:ext cx="1735347" cy="7355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480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6" grpId="0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110020-4381-03FC-0ECB-31571B979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Let‘s</a:t>
            </a:r>
            <a:r>
              <a:rPr lang="de-DE" dirty="0"/>
              <a:t> </a:t>
            </a:r>
            <a:r>
              <a:rPr lang="de-DE" dirty="0" err="1"/>
              <a:t>build</a:t>
            </a:r>
            <a:r>
              <a:rPr lang="de-DE" dirty="0"/>
              <a:t> a zero-</a:t>
            </a:r>
            <a:r>
              <a:rPr lang="de-DE" dirty="0" err="1"/>
              <a:t>detector</a:t>
            </a:r>
            <a:endParaRPr lang="en-US" dirty="0"/>
          </a:p>
        </p:txBody>
      </p:sp>
      <p:graphicFrame>
        <p:nvGraphicFramePr>
          <p:cNvPr id="6" name="Inhaltsplatzhalter 6">
            <a:extLst>
              <a:ext uri="{FF2B5EF4-FFF2-40B4-BE49-F238E27FC236}">
                <a16:creationId xmlns:a16="http://schemas.microsoft.com/office/drawing/2014/main" id="{3BA886DF-A9DA-1BB1-5477-996EECC243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8643435"/>
              </p:ext>
            </p:extLst>
          </p:nvPr>
        </p:nvGraphicFramePr>
        <p:xfrm>
          <a:off x="838201" y="1825625"/>
          <a:ext cx="4175450" cy="3978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090">
                  <a:extLst>
                    <a:ext uri="{9D8B030D-6E8A-4147-A177-3AD203B41FA5}">
                      <a16:colId xmlns:a16="http://schemas.microsoft.com/office/drawing/2014/main" val="1167103484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297176560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36139935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78572269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3500409737"/>
                    </a:ext>
                  </a:extLst>
                </a:gridCol>
              </a:tblGrid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27135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7638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87328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711877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326310"/>
                  </a:ext>
                </a:extLst>
              </a:tr>
            </a:tbl>
          </a:graphicData>
        </a:graphic>
      </p:graphicFrame>
      <p:sp>
        <p:nvSpPr>
          <p:cNvPr id="7" name="Rahmen 6">
            <a:extLst>
              <a:ext uri="{FF2B5EF4-FFF2-40B4-BE49-F238E27FC236}">
                <a16:creationId xmlns:a16="http://schemas.microsoft.com/office/drawing/2014/main" id="{4118079F-2996-1F9E-6ED0-17007E66582E}"/>
              </a:ext>
            </a:extLst>
          </p:cNvPr>
          <p:cNvSpPr/>
          <p:nvPr/>
        </p:nvSpPr>
        <p:spPr>
          <a:xfrm>
            <a:off x="781051" y="1758950"/>
            <a:ext cx="4243876" cy="412115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7CE5F5E6-AB94-9F78-9C60-BD714EA2B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944797"/>
              </p:ext>
            </p:extLst>
          </p:nvPr>
        </p:nvGraphicFramePr>
        <p:xfrm>
          <a:off x="5695951" y="2897715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9" name="Rahmen 8">
            <a:extLst>
              <a:ext uri="{FF2B5EF4-FFF2-40B4-BE49-F238E27FC236}">
                <a16:creationId xmlns:a16="http://schemas.microsoft.com/office/drawing/2014/main" id="{A02EDE25-9779-5A32-F285-135DCBAA31FD}"/>
              </a:ext>
            </a:extLst>
          </p:cNvPr>
          <p:cNvSpPr/>
          <p:nvPr/>
        </p:nvSpPr>
        <p:spPr>
          <a:xfrm>
            <a:off x="5695951" y="2844800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D97821EF-02CE-618F-46F0-0543E112E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499569"/>
              </p:ext>
            </p:extLst>
          </p:nvPr>
        </p:nvGraphicFramePr>
        <p:xfrm>
          <a:off x="7651751" y="2897715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.120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.200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.080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.080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.004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.080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.080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.200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.120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4" name="Rahmen 3">
            <a:extLst>
              <a:ext uri="{FF2B5EF4-FFF2-40B4-BE49-F238E27FC236}">
                <a16:creationId xmlns:a16="http://schemas.microsoft.com/office/drawing/2014/main" id="{A3729882-2204-AA0B-8C2D-2A452B65B196}"/>
              </a:ext>
            </a:extLst>
          </p:cNvPr>
          <p:cNvSpPr/>
          <p:nvPr/>
        </p:nvSpPr>
        <p:spPr>
          <a:xfrm>
            <a:off x="7651751" y="2844800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C7EB5A6F-8B5A-05B2-33D8-B882915F8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727010"/>
              </p:ext>
            </p:extLst>
          </p:nvPr>
        </p:nvGraphicFramePr>
        <p:xfrm>
          <a:off x="9607551" y="2897715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.054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.410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.020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.020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.007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.020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.020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.410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0" dirty="0">
                          <a:solidFill>
                            <a:schemeClr val="tx1"/>
                          </a:solidFill>
                        </a:rPr>
                        <a:t>.054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14" name="Rahmen 13">
            <a:extLst>
              <a:ext uri="{FF2B5EF4-FFF2-40B4-BE49-F238E27FC236}">
                <a16:creationId xmlns:a16="http://schemas.microsoft.com/office/drawing/2014/main" id="{CA84BD8D-4344-4510-1725-BE5A16335830}"/>
              </a:ext>
            </a:extLst>
          </p:cNvPr>
          <p:cNvSpPr/>
          <p:nvPr/>
        </p:nvSpPr>
        <p:spPr>
          <a:xfrm>
            <a:off x="9607551" y="2844800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965D87F-F3F8-3CE3-10E9-5C1A164FE7EC}"/>
              </a:ext>
            </a:extLst>
          </p:cNvPr>
          <p:cNvSpPr txBox="1"/>
          <p:nvPr/>
        </p:nvSpPr>
        <p:spPr>
          <a:xfrm>
            <a:off x="6173190" y="2393950"/>
            <a:ext cx="740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score</a:t>
            </a:r>
            <a:endParaRPr lang="en-US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F3E16C6-C0DB-6971-12D2-4A5AB88527B8}"/>
              </a:ext>
            </a:extLst>
          </p:cNvPr>
          <p:cNvSpPr txBox="1"/>
          <p:nvPr/>
        </p:nvSpPr>
        <p:spPr>
          <a:xfrm>
            <a:off x="8183171" y="2393950"/>
            <a:ext cx="632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ratio</a:t>
            </a:r>
            <a:endParaRPr lang="en-US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F39909D-A4F2-2A44-B0F2-51BC22D96019}"/>
              </a:ext>
            </a:extLst>
          </p:cNvPr>
          <p:cNvSpPr txBox="1"/>
          <p:nvPr/>
        </p:nvSpPr>
        <p:spPr>
          <a:xfrm>
            <a:off x="9959116" y="2393950"/>
            <a:ext cx="992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 err="1"/>
              <a:t>softmax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FB37D891-68C9-D11E-B333-4FFE5298921C}"/>
                  </a:ext>
                </a:extLst>
              </p:cNvPr>
              <p:cNvSpPr txBox="1"/>
              <p:nvPr/>
            </p:nvSpPr>
            <p:spPr>
              <a:xfrm>
                <a:off x="9567654" y="4787900"/>
                <a:ext cx="1735347" cy="7355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acc>
                            </m:e>
                          </m:d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Sup>
                                <m:sSubSup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</m:sSubSup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FB37D891-68C9-D11E-B333-4FFE52989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7654" y="4787900"/>
                <a:ext cx="1735347" cy="7355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2428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110020-4381-03FC-0ECB-31571B979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Let‘s</a:t>
            </a:r>
            <a:r>
              <a:rPr lang="de-DE" dirty="0"/>
              <a:t> </a:t>
            </a:r>
            <a:r>
              <a:rPr lang="de-DE" dirty="0" err="1"/>
              <a:t>build</a:t>
            </a:r>
            <a:r>
              <a:rPr lang="de-DE" dirty="0"/>
              <a:t> a zero-</a:t>
            </a:r>
            <a:r>
              <a:rPr lang="de-DE" dirty="0" err="1"/>
              <a:t>detector</a:t>
            </a:r>
            <a:endParaRPr lang="en-US" dirty="0"/>
          </a:p>
        </p:txBody>
      </p:sp>
      <p:graphicFrame>
        <p:nvGraphicFramePr>
          <p:cNvPr id="6" name="Inhaltsplatzhalter 6">
            <a:extLst>
              <a:ext uri="{FF2B5EF4-FFF2-40B4-BE49-F238E27FC236}">
                <a16:creationId xmlns:a16="http://schemas.microsoft.com/office/drawing/2014/main" id="{3BA886DF-A9DA-1BB1-5477-996EECC24355}"/>
              </a:ext>
            </a:extLst>
          </p:cNvPr>
          <p:cNvGraphicFramePr>
            <a:graphicFrameLocks/>
          </p:cNvGraphicFramePr>
          <p:nvPr/>
        </p:nvGraphicFramePr>
        <p:xfrm>
          <a:off x="838201" y="1825625"/>
          <a:ext cx="4175450" cy="3978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090">
                  <a:extLst>
                    <a:ext uri="{9D8B030D-6E8A-4147-A177-3AD203B41FA5}">
                      <a16:colId xmlns:a16="http://schemas.microsoft.com/office/drawing/2014/main" val="1167103484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297176560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36139935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1785722692"/>
                    </a:ext>
                  </a:extLst>
                </a:gridCol>
                <a:gridCol w="835090">
                  <a:extLst>
                    <a:ext uri="{9D8B030D-6E8A-4147-A177-3AD203B41FA5}">
                      <a16:colId xmlns:a16="http://schemas.microsoft.com/office/drawing/2014/main" val="3500409737"/>
                    </a:ext>
                  </a:extLst>
                </a:gridCol>
              </a:tblGrid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27135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76380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87328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711877"/>
                  </a:ext>
                </a:extLst>
              </a:tr>
              <a:tr h="795603"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326310"/>
                  </a:ext>
                </a:extLst>
              </a:tr>
            </a:tbl>
          </a:graphicData>
        </a:graphic>
      </p:graphicFrame>
      <p:sp>
        <p:nvSpPr>
          <p:cNvPr id="7" name="Rahmen 6">
            <a:extLst>
              <a:ext uri="{FF2B5EF4-FFF2-40B4-BE49-F238E27FC236}">
                <a16:creationId xmlns:a16="http://schemas.microsoft.com/office/drawing/2014/main" id="{4118079F-2996-1F9E-6ED0-17007E66582E}"/>
              </a:ext>
            </a:extLst>
          </p:cNvPr>
          <p:cNvSpPr/>
          <p:nvPr/>
        </p:nvSpPr>
        <p:spPr>
          <a:xfrm>
            <a:off x="781051" y="1758950"/>
            <a:ext cx="4243876" cy="412115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7CE5F5E6-AB94-9F78-9C60-BD714EA2B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672963"/>
              </p:ext>
            </p:extLst>
          </p:nvPr>
        </p:nvGraphicFramePr>
        <p:xfrm>
          <a:off x="7715251" y="2964390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9" name="Rahmen 8">
            <a:extLst>
              <a:ext uri="{FF2B5EF4-FFF2-40B4-BE49-F238E27FC236}">
                <a16:creationId xmlns:a16="http://schemas.microsoft.com/office/drawing/2014/main" id="{A02EDE25-9779-5A32-F285-135DCBAA31FD}"/>
              </a:ext>
            </a:extLst>
          </p:cNvPr>
          <p:cNvSpPr/>
          <p:nvPr/>
        </p:nvSpPr>
        <p:spPr>
          <a:xfrm>
            <a:off x="7715251" y="2911475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965D87F-F3F8-3CE3-10E9-5C1A164FE7EC}"/>
              </a:ext>
            </a:extLst>
          </p:cNvPr>
          <p:cNvSpPr txBox="1"/>
          <p:nvPr/>
        </p:nvSpPr>
        <p:spPr>
          <a:xfrm>
            <a:off x="8192490" y="2460625"/>
            <a:ext cx="740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score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622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110020-4381-03FC-0ECB-31571B979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Let‘s</a:t>
            </a:r>
            <a:r>
              <a:rPr lang="de-DE" dirty="0"/>
              <a:t> </a:t>
            </a:r>
            <a:r>
              <a:rPr lang="de-DE" dirty="0" err="1"/>
              <a:t>build</a:t>
            </a:r>
            <a:r>
              <a:rPr lang="de-DE" dirty="0"/>
              <a:t> a zero-</a:t>
            </a:r>
            <a:r>
              <a:rPr lang="de-DE" dirty="0" err="1"/>
              <a:t>detector</a:t>
            </a:r>
            <a:endParaRPr lang="en-US" dirty="0"/>
          </a:p>
        </p:txBody>
      </p:sp>
      <p:graphicFrame>
        <p:nvGraphicFramePr>
          <p:cNvPr id="6" name="Inhaltsplatzhalter 6">
            <a:extLst>
              <a:ext uri="{FF2B5EF4-FFF2-40B4-BE49-F238E27FC236}">
                <a16:creationId xmlns:a16="http://schemas.microsoft.com/office/drawing/2014/main" id="{3BA886DF-A9DA-1BB1-5477-996EECC243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5420375"/>
              </p:ext>
            </p:extLst>
          </p:nvPr>
        </p:nvGraphicFramePr>
        <p:xfrm>
          <a:off x="838201" y="1825625"/>
          <a:ext cx="4175451" cy="4054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493">
                  <a:extLst>
                    <a:ext uri="{9D8B030D-6E8A-4147-A177-3AD203B41FA5}">
                      <a16:colId xmlns:a16="http://schemas.microsoft.com/office/drawing/2014/main" val="1307991416"/>
                    </a:ext>
                  </a:extLst>
                </a:gridCol>
                <a:gridCol w="596493">
                  <a:extLst>
                    <a:ext uri="{9D8B030D-6E8A-4147-A177-3AD203B41FA5}">
                      <a16:colId xmlns:a16="http://schemas.microsoft.com/office/drawing/2014/main" val="1167103484"/>
                    </a:ext>
                  </a:extLst>
                </a:gridCol>
                <a:gridCol w="596493">
                  <a:extLst>
                    <a:ext uri="{9D8B030D-6E8A-4147-A177-3AD203B41FA5}">
                      <a16:colId xmlns:a16="http://schemas.microsoft.com/office/drawing/2014/main" val="1297176560"/>
                    </a:ext>
                  </a:extLst>
                </a:gridCol>
                <a:gridCol w="596493">
                  <a:extLst>
                    <a:ext uri="{9D8B030D-6E8A-4147-A177-3AD203B41FA5}">
                      <a16:colId xmlns:a16="http://schemas.microsoft.com/office/drawing/2014/main" val="1361399352"/>
                    </a:ext>
                  </a:extLst>
                </a:gridCol>
                <a:gridCol w="596493">
                  <a:extLst>
                    <a:ext uri="{9D8B030D-6E8A-4147-A177-3AD203B41FA5}">
                      <a16:colId xmlns:a16="http://schemas.microsoft.com/office/drawing/2014/main" val="1785722692"/>
                    </a:ext>
                  </a:extLst>
                </a:gridCol>
                <a:gridCol w="596493">
                  <a:extLst>
                    <a:ext uri="{9D8B030D-6E8A-4147-A177-3AD203B41FA5}">
                      <a16:colId xmlns:a16="http://schemas.microsoft.com/office/drawing/2014/main" val="3500409737"/>
                    </a:ext>
                  </a:extLst>
                </a:gridCol>
                <a:gridCol w="596493">
                  <a:extLst>
                    <a:ext uri="{9D8B030D-6E8A-4147-A177-3AD203B41FA5}">
                      <a16:colId xmlns:a16="http://schemas.microsoft.com/office/drawing/2014/main" val="1558690606"/>
                    </a:ext>
                  </a:extLst>
                </a:gridCol>
              </a:tblGrid>
              <a:tr h="579211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271350"/>
                  </a:ext>
                </a:extLst>
              </a:tr>
              <a:tr h="579211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399186"/>
                  </a:ext>
                </a:extLst>
              </a:tr>
              <a:tr h="579211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76380"/>
                  </a:ext>
                </a:extLst>
              </a:tr>
              <a:tr h="579211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87328"/>
                  </a:ext>
                </a:extLst>
              </a:tr>
              <a:tr h="579211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711877"/>
                  </a:ext>
                </a:extLst>
              </a:tr>
              <a:tr h="579211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326310"/>
                  </a:ext>
                </a:extLst>
              </a:tr>
              <a:tr h="579211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81168"/>
                  </a:ext>
                </a:extLst>
              </a:tr>
            </a:tbl>
          </a:graphicData>
        </a:graphic>
      </p:graphicFrame>
      <p:sp>
        <p:nvSpPr>
          <p:cNvPr id="7" name="Rahmen 6">
            <a:extLst>
              <a:ext uri="{FF2B5EF4-FFF2-40B4-BE49-F238E27FC236}">
                <a16:creationId xmlns:a16="http://schemas.microsoft.com/office/drawing/2014/main" id="{4118079F-2996-1F9E-6ED0-17007E66582E}"/>
              </a:ext>
            </a:extLst>
          </p:cNvPr>
          <p:cNvSpPr/>
          <p:nvPr/>
        </p:nvSpPr>
        <p:spPr>
          <a:xfrm>
            <a:off x="781051" y="1758950"/>
            <a:ext cx="4243876" cy="4121150"/>
          </a:xfrm>
          <a:prstGeom prst="frame">
            <a:avLst>
              <a:gd name="adj1" fmla="val 260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7CE5F5E6-AB94-9F78-9C60-BD714EA2B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8904"/>
              </p:ext>
            </p:extLst>
          </p:nvPr>
        </p:nvGraphicFramePr>
        <p:xfrm>
          <a:off x="7213712" y="2545290"/>
          <a:ext cx="2705100" cy="2769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2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3055250320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509568051"/>
                    </a:ext>
                  </a:extLst>
                </a:gridCol>
              </a:tblGrid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577725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021690"/>
                  </a:ext>
                </a:extLst>
              </a:tr>
            </a:tbl>
          </a:graphicData>
        </a:graphic>
      </p:graphicFrame>
      <p:sp>
        <p:nvSpPr>
          <p:cNvPr id="9" name="Rahmen 8">
            <a:extLst>
              <a:ext uri="{FF2B5EF4-FFF2-40B4-BE49-F238E27FC236}">
                <a16:creationId xmlns:a16="http://schemas.microsoft.com/office/drawing/2014/main" id="{A02EDE25-9779-5A32-F285-135DCBAA31FD}"/>
              </a:ext>
            </a:extLst>
          </p:cNvPr>
          <p:cNvSpPr/>
          <p:nvPr/>
        </p:nvSpPr>
        <p:spPr>
          <a:xfrm>
            <a:off x="7718537" y="3063875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965D87F-F3F8-3CE3-10E9-5C1A164FE7EC}"/>
              </a:ext>
            </a:extLst>
          </p:cNvPr>
          <p:cNvSpPr txBox="1"/>
          <p:nvPr/>
        </p:nvSpPr>
        <p:spPr>
          <a:xfrm>
            <a:off x="8192490" y="1964293"/>
            <a:ext cx="740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score</a:t>
            </a:r>
            <a:endParaRPr lang="en-US" dirty="0"/>
          </a:p>
        </p:txBody>
      </p:sp>
      <p:sp>
        <p:nvSpPr>
          <p:cNvPr id="3" name="Rahmen 2">
            <a:extLst>
              <a:ext uri="{FF2B5EF4-FFF2-40B4-BE49-F238E27FC236}">
                <a16:creationId xmlns:a16="http://schemas.microsoft.com/office/drawing/2014/main" id="{4E3C6440-FDF6-ABF0-7DDA-6EA6EEE69471}"/>
              </a:ext>
            </a:extLst>
          </p:cNvPr>
          <p:cNvSpPr/>
          <p:nvPr/>
        </p:nvSpPr>
        <p:spPr>
          <a:xfrm>
            <a:off x="1371599" y="2362200"/>
            <a:ext cx="3086101" cy="295275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ahmen 3">
            <a:extLst>
              <a:ext uri="{FF2B5EF4-FFF2-40B4-BE49-F238E27FC236}">
                <a16:creationId xmlns:a16="http://schemas.microsoft.com/office/drawing/2014/main" id="{153AD0A6-FD4A-4490-A69E-65FC3452A5AB}"/>
              </a:ext>
            </a:extLst>
          </p:cNvPr>
          <p:cNvSpPr/>
          <p:nvPr/>
        </p:nvSpPr>
        <p:spPr>
          <a:xfrm>
            <a:off x="7167075" y="2463801"/>
            <a:ext cx="2751737" cy="2851149"/>
          </a:xfrm>
          <a:prstGeom prst="frame">
            <a:avLst>
              <a:gd name="adj1" fmla="val 260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248DA4B-FA01-100E-65FF-3F7516242468}"/>
              </a:ext>
            </a:extLst>
          </p:cNvPr>
          <p:cNvSpPr txBox="1"/>
          <p:nvPr/>
        </p:nvSpPr>
        <p:spPr>
          <a:xfrm>
            <a:off x="7213712" y="5795675"/>
            <a:ext cx="4733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 err="1"/>
              <a:t>zero</a:t>
            </a:r>
            <a:r>
              <a:rPr lang="de-DE" sz="3200" b="1" dirty="0"/>
              <a:t> </a:t>
            </a:r>
            <a:r>
              <a:rPr lang="de-DE" sz="3200" b="1" dirty="0" err="1"/>
              <a:t>padding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913032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23B447-40E2-9DFA-47EC-6A1CA8D86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Stepping</a:t>
            </a:r>
            <a:r>
              <a:rPr lang="de-DE" dirty="0"/>
              <a:t> </a:t>
            </a:r>
            <a:r>
              <a:rPr lang="de-DE" dirty="0" err="1"/>
              <a:t>things</a:t>
            </a:r>
            <a:r>
              <a:rPr lang="de-DE" dirty="0"/>
              <a:t> </a:t>
            </a:r>
            <a:r>
              <a:rPr lang="de-DE" dirty="0" err="1"/>
              <a:t>up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B7FA214-87C3-73D8-C00F-4CAED59FA8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ImageNet-1k:</a:t>
            </a:r>
          </a:p>
          <a:p>
            <a:r>
              <a:rPr lang="de-DE" dirty="0"/>
              <a:t>1,000 </a:t>
            </a:r>
            <a:r>
              <a:rPr lang="de-DE" dirty="0" err="1"/>
              <a:t>classes</a:t>
            </a:r>
            <a:endParaRPr lang="de-DE" dirty="0"/>
          </a:p>
          <a:p>
            <a:r>
              <a:rPr lang="de-DE" dirty="0"/>
              <a:t>Image </a:t>
            </a:r>
            <a:r>
              <a:rPr lang="de-DE" dirty="0" err="1"/>
              <a:t>size</a:t>
            </a:r>
            <a:r>
              <a:rPr lang="de-DE" dirty="0"/>
              <a:t>: 224 * 224</a:t>
            </a:r>
          </a:p>
          <a:p>
            <a:r>
              <a:rPr lang="de-DE" dirty="0"/>
              <a:t>1,281,167 </a:t>
            </a:r>
            <a:r>
              <a:rPr lang="de-DE" dirty="0" err="1"/>
              <a:t>training</a:t>
            </a:r>
            <a:r>
              <a:rPr lang="de-DE" dirty="0"/>
              <a:t> </a:t>
            </a:r>
            <a:r>
              <a:rPr lang="de-DE" dirty="0" err="1"/>
              <a:t>images</a:t>
            </a:r>
            <a:endParaRPr lang="en-US" dirty="0"/>
          </a:p>
        </p:txBody>
      </p:sp>
      <p:pic>
        <p:nvPicPr>
          <p:cNvPr id="1026" name="Picture 2" descr="Cover image">
            <a:extLst>
              <a:ext uri="{FF2B5EF4-FFF2-40B4-BE49-F238E27FC236}">
                <a16:creationId xmlns:a16="http://schemas.microsoft.com/office/drawing/2014/main" id="{B62A6A54-1315-8FD3-888E-D2E25EADCD6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94459"/>
            <a:ext cx="5181600" cy="2613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597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F4AA44-BE2A-DC18-5511-AED168F13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ImageNet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192: </a:t>
            </a:r>
            <a:r>
              <a:rPr lang="de-DE" dirty="0" err="1"/>
              <a:t>cairn</a:t>
            </a:r>
            <a:r>
              <a:rPr lang="de-DE" dirty="0"/>
              <a:t> </a:t>
            </a:r>
            <a:r>
              <a:rPr lang="de-DE" dirty="0" err="1"/>
              <a:t>terrier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5F7A9F0-795C-D147-7C70-DB90BF8D8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2352674"/>
            <a:ext cx="2409825" cy="240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D9BC3E4-AC39-9B56-AB23-968BE6FCA8C6}"/>
              </a:ext>
            </a:extLst>
          </p:cNvPr>
          <p:cNvSpPr txBox="1"/>
          <p:nvPr/>
        </p:nvSpPr>
        <p:spPr>
          <a:xfrm>
            <a:off x="1038225" y="4762499"/>
            <a:ext cx="22098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© John, CC-BY-2.0</a:t>
            </a:r>
            <a:endParaRPr lang="en-US" sz="1200" dirty="0"/>
          </a:p>
        </p:txBody>
      </p:sp>
      <p:pic>
        <p:nvPicPr>
          <p:cNvPr id="8" name="Grafik 7" descr="Ein Bild, das Säugetier, Hunderasse, Hund, Haustier enthält.&#10;&#10;Automatisch generierte Beschreibung">
            <a:extLst>
              <a:ext uri="{FF2B5EF4-FFF2-40B4-BE49-F238E27FC236}">
                <a16:creationId xmlns:a16="http://schemas.microsoft.com/office/drawing/2014/main" id="{3752025B-40FD-1036-BFAD-F21E55CBFD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631" y="2539861"/>
            <a:ext cx="2142008" cy="219329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A6A3B403-A3F1-F6F4-EACA-BDF1DD1CDA77}"/>
              </a:ext>
            </a:extLst>
          </p:cNvPr>
          <p:cNvSpPr txBox="1"/>
          <p:nvPr/>
        </p:nvSpPr>
        <p:spPr>
          <a:xfrm>
            <a:off x="3628631" y="4762499"/>
            <a:ext cx="23507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© Josefine S., CC-BY-NC-ND-2.0</a:t>
            </a:r>
            <a:endParaRPr lang="en-US" sz="12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5340DF8-4504-3C97-7C0A-C089FEABB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592" y="1928495"/>
            <a:ext cx="2409825" cy="321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35FF5663-1148-052D-0E78-A51497A00CB3}"/>
              </a:ext>
            </a:extLst>
          </p:cNvPr>
          <p:cNvSpPr txBox="1"/>
          <p:nvPr/>
        </p:nvSpPr>
        <p:spPr>
          <a:xfrm>
            <a:off x="6060592" y="5141595"/>
            <a:ext cx="22098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© </a:t>
            </a:r>
            <a:r>
              <a:rPr lang="de-DE" sz="1200" dirty="0" err="1"/>
              <a:t>Rockytopscott</a:t>
            </a:r>
            <a:r>
              <a:rPr lang="de-DE" sz="1200" dirty="0"/>
              <a:t>, CC-BY-3.0</a:t>
            </a:r>
            <a:endParaRPr lang="en-US" sz="1200" dirty="0"/>
          </a:p>
        </p:txBody>
      </p:sp>
      <p:pic>
        <p:nvPicPr>
          <p:cNvPr id="2054" name="Picture 6" descr="adult brown cairn terrier">
            <a:extLst>
              <a:ext uri="{FF2B5EF4-FFF2-40B4-BE49-F238E27FC236}">
                <a16:creationId xmlns:a16="http://schemas.microsoft.com/office/drawing/2014/main" id="{4374DB39-81C3-B859-72A2-77CF9525A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3205" y="2436356"/>
            <a:ext cx="2281396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9637A85-E013-7AF6-E003-975E36BD2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501" y="2095501"/>
            <a:ext cx="3895468" cy="3895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6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D5B485-8343-75F1-CE33-209E664EA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Detecting</a:t>
            </a:r>
            <a:r>
              <a:rPr lang="de-DE" dirty="0"/>
              <a:t> </a:t>
            </a:r>
            <a:r>
              <a:rPr lang="de-DE" dirty="0" err="1"/>
              <a:t>patterns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detecting</a:t>
            </a:r>
            <a:r>
              <a:rPr lang="de-DE" dirty="0"/>
              <a:t> </a:t>
            </a:r>
            <a:r>
              <a:rPr lang="de-DE" dirty="0" err="1"/>
              <a:t>objects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D6F0F5-1FE0-A56A-5F55-5CE751D73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5200" y="1816100"/>
            <a:ext cx="5181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de-DE" sz="23900" b="1" dirty="0"/>
              <a:t>b</a:t>
            </a:r>
            <a:endParaRPr lang="en-US" sz="23900" b="1" dirty="0"/>
          </a:p>
        </p:txBody>
      </p:sp>
    </p:spTree>
    <p:extLst>
      <p:ext uri="{BB962C8B-B14F-4D97-AF65-F5344CB8AC3E}">
        <p14:creationId xmlns:p14="http://schemas.microsoft.com/office/powerpoint/2010/main" val="864288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D5B485-8343-75F1-CE33-209E664EA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Detecting</a:t>
            </a:r>
            <a:r>
              <a:rPr lang="de-DE" dirty="0"/>
              <a:t> </a:t>
            </a:r>
            <a:r>
              <a:rPr lang="de-DE" dirty="0" err="1"/>
              <a:t>patterns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detecting</a:t>
            </a:r>
            <a:r>
              <a:rPr lang="de-DE" dirty="0"/>
              <a:t> </a:t>
            </a:r>
            <a:r>
              <a:rPr lang="de-DE" dirty="0" err="1"/>
              <a:t>objects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D6F0F5-1FE0-A56A-5F55-5CE751D73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5200" y="1816100"/>
            <a:ext cx="5181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de-DE" sz="23900" b="1" dirty="0"/>
              <a:t>b</a:t>
            </a:r>
            <a:endParaRPr lang="en-US" sz="23900" b="1" dirty="0"/>
          </a:p>
        </p:txBody>
      </p:sp>
      <p:sp>
        <p:nvSpPr>
          <p:cNvPr id="3" name="Kreis: nicht ausgefüllt 2">
            <a:extLst>
              <a:ext uri="{FF2B5EF4-FFF2-40B4-BE49-F238E27FC236}">
                <a16:creationId xmlns:a16="http://schemas.microsoft.com/office/drawing/2014/main" id="{53472039-754D-AE6D-130B-EEAA47AD7208}"/>
              </a:ext>
            </a:extLst>
          </p:cNvPr>
          <p:cNvSpPr/>
          <p:nvPr/>
        </p:nvSpPr>
        <p:spPr>
          <a:xfrm>
            <a:off x="8577263" y="3181769"/>
            <a:ext cx="1620000" cy="1620000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438B35B-3723-43A7-0697-7F4022E57A18}"/>
              </a:ext>
            </a:extLst>
          </p:cNvPr>
          <p:cNvSpPr/>
          <p:nvPr/>
        </p:nvSpPr>
        <p:spPr>
          <a:xfrm>
            <a:off x="2219325" y="2752725"/>
            <a:ext cx="571500" cy="2181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47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D5B485-8343-75F1-CE33-209E664EA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Detecting</a:t>
            </a:r>
            <a:r>
              <a:rPr lang="de-DE" dirty="0"/>
              <a:t> </a:t>
            </a:r>
            <a:r>
              <a:rPr lang="de-DE" dirty="0" err="1"/>
              <a:t>patterns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detecting</a:t>
            </a:r>
            <a:r>
              <a:rPr lang="de-DE" dirty="0"/>
              <a:t> </a:t>
            </a:r>
            <a:r>
              <a:rPr lang="de-DE" dirty="0" err="1"/>
              <a:t>objects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D6F0F5-1FE0-A56A-5F55-5CE751D73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5200" y="1816100"/>
            <a:ext cx="5181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de-DE" sz="23900" b="1" dirty="0"/>
              <a:t>b</a:t>
            </a:r>
            <a:endParaRPr lang="en-US" sz="23900" b="1" dirty="0"/>
          </a:p>
        </p:txBody>
      </p:sp>
      <p:sp>
        <p:nvSpPr>
          <p:cNvPr id="3" name="Kreis: nicht ausgefüllt 2">
            <a:extLst>
              <a:ext uri="{FF2B5EF4-FFF2-40B4-BE49-F238E27FC236}">
                <a16:creationId xmlns:a16="http://schemas.microsoft.com/office/drawing/2014/main" id="{53472039-754D-AE6D-130B-EEAA47AD7208}"/>
              </a:ext>
            </a:extLst>
          </p:cNvPr>
          <p:cNvSpPr/>
          <p:nvPr/>
        </p:nvSpPr>
        <p:spPr>
          <a:xfrm>
            <a:off x="8577263" y="3181769"/>
            <a:ext cx="1620000" cy="1620000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438B35B-3723-43A7-0697-7F4022E57A18}"/>
              </a:ext>
            </a:extLst>
          </p:cNvPr>
          <p:cNvSpPr/>
          <p:nvPr/>
        </p:nvSpPr>
        <p:spPr>
          <a:xfrm>
            <a:off x="2219325" y="2752725"/>
            <a:ext cx="571500" cy="2181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4E571774-6FC6-25A9-D72E-16543163E1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155681"/>
              </p:ext>
            </p:extLst>
          </p:nvPr>
        </p:nvGraphicFramePr>
        <p:xfrm>
          <a:off x="1647826" y="3024715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7" name="Rahmen 6">
            <a:extLst>
              <a:ext uri="{FF2B5EF4-FFF2-40B4-BE49-F238E27FC236}">
                <a16:creationId xmlns:a16="http://schemas.microsoft.com/office/drawing/2014/main" id="{EA87CBCD-E547-2342-C60C-C3AC6DDFCEC3}"/>
              </a:ext>
            </a:extLst>
          </p:cNvPr>
          <p:cNvSpPr/>
          <p:nvPr/>
        </p:nvSpPr>
        <p:spPr>
          <a:xfrm>
            <a:off x="1647826" y="2971800"/>
            <a:ext cx="1695450" cy="1727200"/>
          </a:xfrm>
          <a:prstGeom prst="frame">
            <a:avLst>
              <a:gd name="adj1" fmla="val 260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2FF8E558-616C-072E-5B71-C2F12BFFC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094722"/>
              </p:ext>
            </p:extLst>
          </p:nvPr>
        </p:nvGraphicFramePr>
        <p:xfrm>
          <a:off x="8577263" y="3127484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9" name="Rahmen 8">
            <a:extLst>
              <a:ext uri="{FF2B5EF4-FFF2-40B4-BE49-F238E27FC236}">
                <a16:creationId xmlns:a16="http://schemas.microsoft.com/office/drawing/2014/main" id="{3DB79C14-4BD7-8224-620B-8C738F64BEF3}"/>
              </a:ext>
            </a:extLst>
          </p:cNvPr>
          <p:cNvSpPr/>
          <p:nvPr/>
        </p:nvSpPr>
        <p:spPr>
          <a:xfrm>
            <a:off x="8577263" y="3074569"/>
            <a:ext cx="1695450" cy="1727200"/>
          </a:xfrm>
          <a:prstGeom prst="frame">
            <a:avLst>
              <a:gd name="adj1" fmla="val 260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625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110020-4381-03FC-0ECB-31571B979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Let‘s</a:t>
            </a:r>
            <a:r>
              <a:rPr lang="de-DE" dirty="0"/>
              <a:t> </a:t>
            </a:r>
            <a:r>
              <a:rPr lang="de-DE" dirty="0" err="1"/>
              <a:t>build</a:t>
            </a:r>
            <a:r>
              <a:rPr lang="de-DE" dirty="0"/>
              <a:t> a b-pattern-</a:t>
            </a:r>
            <a:r>
              <a:rPr lang="de-DE" dirty="0" err="1"/>
              <a:t>detector</a:t>
            </a:r>
            <a:endParaRPr lang="en-US" dirty="0"/>
          </a:p>
        </p:txBody>
      </p:sp>
      <p:graphicFrame>
        <p:nvGraphicFramePr>
          <p:cNvPr id="6" name="Inhaltsplatzhalter 6">
            <a:extLst>
              <a:ext uri="{FF2B5EF4-FFF2-40B4-BE49-F238E27FC236}">
                <a16:creationId xmlns:a16="http://schemas.microsoft.com/office/drawing/2014/main" id="{3BA886DF-A9DA-1BB1-5477-996EECC243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4867220"/>
              </p:ext>
            </p:extLst>
          </p:nvPr>
        </p:nvGraphicFramePr>
        <p:xfrm>
          <a:off x="838201" y="1825625"/>
          <a:ext cx="4175451" cy="4054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493">
                  <a:extLst>
                    <a:ext uri="{9D8B030D-6E8A-4147-A177-3AD203B41FA5}">
                      <a16:colId xmlns:a16="http://schemas.microsoft.com/office/drawing/2014/main" val="1307991416"/>
                    </a:ext>
                  </a:extLst>
                </a:gridCol>
                <a:gridCol w="596493">
                  <a:extLst>
                    <a:ext uri="{9D8B030D-6E8A-4147-A177-3AD203B41FA5}">
                      <a16:colId xmlns:a16="http://schemas.microsoft.com/office/drawing/2014/main" val="1167103484"/>
                    </a:ext>
                  </a:extLst>
                </a:gridCol>
                <a:gridCol w="596493">
                  <a:extLst>
                    <a:ext uri="{9D8B030D-6E8A-4147-A177-3AD203B41FA5}">
                      <a16:colId xmlns:a16="http://schemas.microsoft.com/office/drawing/2014/main" val="1297176560"/>
                    </a:ext>
                  </a:extLst>
                </a:gridCol>
                <a:gridCol w="596493">
                  <a:extLst>
                    <a:ext uri="{9D8B030D-6E8A-4147-A177-3AD203B41FA5}">
                      <a16:colId xmlns:a16="http://schemas.microsoft.com/office/drawing/2014/main" val="1361399352"/>
                    </a:ext>
                  </a:extLst>
                </a:gridCol>
                <a:gridCol w="596493">
                  <a:extLst>
                    <a:ext uri="{9D8B030D-6E8A-4147-A177-3AD203B41FA5}">
                      <a16:colId xmlns:a16="http://schemas.microsoft.com/office/drawing/2014/main" val="1785722692"/>
                    </a:ext>
                  </a:extLst>
                </a:gridCol>
                <a:gridCol w="596493">
                  <a:extLst>
                    <a:ext uri="{9D8B030D-6E8A-4147-A177-3AD203B41FA5}">
                      <a16:colId xmlns:a16="http://schemas.microsoft.com/office/drawing/2014/main" val="3500409737"/>
                    </a:ext>
                  </a:extLst>
                </a:gridCol>
                <a:gridCol w="596493">
                  <a:extLst>
                    <a:ext uri="{9D8B030D-6E8A-4147-A177-3AD203B41FA5}">
                      <a16:colId xmlns:a16="http://schemas.microsoft.com/office/drawing/2014/main" val="1558690606"/>
                    </a:ext>
                  </a:extLst>
                </a:gridCol>
              </a:tblGrid>
              <a:tr h="579211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271350"/>
                  </a:ext>
                </a:extLst>
              </a:tr>
              <a:tr h="579211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399186"/>
                  </a:ext>
                </a:extLst>
              </a:tr>
              <a:tr h="579211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76380"/>
                  </a:ext>
                </a:extLst>
              </a:tr>
              <a:tr h="579211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887328"/>
                  </a:ext>
                </a:extLst>
              </a:tr>
              <a:tr h="579211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711877"/>
                  </a:ext>
                </a:extLst>
              </a:tr>
              <a:tr h="579211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326310"/>
                  </a:ext>
                </a:extLst>
              </a:tr>
              <a:tr h="579211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81168"/>
                  </a:ext>
                </a:extLst>
              </a:tr>
            </a:tbl>
          </a:graphicData>
        </a:graphic>
      </p:graphicFrame>
      <p:sp>
        <p:nvSpPr>
          <p:cNvPr id="7" name="Rahmen 6">
            <a:extLst>
              <a:ext uri="{FF2B5EF4-FFF2-40B4-BE49-F238E27FC236}">
                <a16:creationId xmlns:a16="http://schemas.microsoft.com/office/drawing/2014/main" id="{4118079F-2996-1F9E-6ED0-17007E66582E}"/>
              </a:ext>
            </a:extLst>
          </p:cNvPr>
          <p:cNvSpPr/>
          <p:nvPr/>
        </p:nvSpPr>
        <p:spPr>
          <a:xfrm>
            <a:off x="781051" y="1758950"/>
            <a:ext cx="4243876" cy="4121150"/>
          </a:xfrm>
          <a:prstGeom prst="frame">
            <a:avLst>
              <a:gd name="adj1" fmla="val 260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7CE5F5E6-AB94-9F78-9C60-BD714EA2B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504833"/>
              </p:ext>
            </p:extLst>
          </p:nvPr>
        </p:nvGraphicFramePr>
        <p:xfrm>
          <a:off x="9182098" y="754590"/>
          <a:ext cx="2705100" cy="2769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2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3055250320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509568051"/>
                    </a:ext>
                  </a:extLst>
                </a:gridCol>
              </a:tblGrid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577725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021690"/>
                  </a:ext>
                </a:extLst>
              </a:tr>
            </a:tbl>
          </a:graphicData>
        </a:graphic>
      </p:graphicFrame>
      <p:sp>
        <p:nvSpPr>
          <p:cNvPr id="9" name="Rahmen 8">
            <a:extLst>
              <a:ext uri="{FF2B5EF4-FFF2-40B4-BE49-F238E27FC236}">
                <a16:creationId xmlns:a16="http://schemas.microsoft.com/office/drawing/2014/main" id="{A02EDE25-9779-5A32-F285-135DCBAA31FD}"/>
              </a:ext>
            </a:extLst>
          </p:cNvPr>
          <p:cNvSpPr/>
          <p:nvPr/>
        </p:nvSpPr>
        <p:spPr>
          <a:xfrm>
            <a:off x="9686923" y="1273175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Rahmen 2">
            <a:extLst>
              <a:ext uri="{FF2B5EF4-FFF2-40B4-BE49-F238E27FC236}">
                <a16:creationId xmlns:a16="http://schemas.microsoft.com/office/drawing/2014/main" id="{4E3C6440-FDF6-ABF0-7DDA-6EA6EEE69471}"/>
              </a:ext>
            </a:extLst>
          </p:cNvPr>
          <p:cNvSpPr/>
          <p:nvPr/>
        </p:nvSpPr>
        <p:spPr>
          <a:xfrm>
            <a:off x="1371599" y="2362200"/>
            <a:ext cx="3086101" cy="295275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ahmen 3">
            <a:extLst>
              <a:ext uri="{FF2B5EF4-FFF2-40B4-BE49-F238E27FC236}">
                <a16:creationId xmlns:a16="http://schemas.microsoft.com/office/drawing/2014/main" id="{153AD0A6-FD4A-4490-A69E-65FC3452A5AB}"/>
              </a:ext>
            </a:extLst>
          </p:cNvPr>
          <p:cNvSpPr/>
          <p:nvPr/>
        </p:nvSpPr>
        <p:spPr>
          <a:xfrm>
            <a:off x="9135461" y="673101"/>
            <a:ext cx="2751737" cy="2851149"/>
          </a:xfrm>
          <a:prstGeom prst="frame">
            <a:avLst>
              <a:gd name="adj1" fmla="val 260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499D116F-F316-53EA-EF53-A8AA726E3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797680"/>
              </p:ext>
            </p:extLst>
          </p:nvPr>
        </p:nvGraphicFramePr>
        <p:xfrm>
          <a:off x="9182098" y="3723215"/>
          <a:ext cx="2705100" cy="2769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2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3055250320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509568051"/>
                    </a:ext>
                  </a:extLst>
                </a:gridCol>
              </a:tblGrid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577725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021690"/>
                  </a:ext>
                </a:extLst>
              </a:tr>
            </a:tbl>
          </a:graphicData>
        </a:graphic>
      </p:graphicFrame>
      <p:sp>
        <p:nvSpPr>
          <p:cNvPr id="11" name="Rahmen 10">
            <a:extLst>
              <a:ext uri="{FF2B5EF4-FFF2-40B4-BE49-F238E27FC236}">
                <a16:creationId xmlns:a16="http://schemas.microsoft.com/office/drawing/2014/main" id="{27C2C3D6-EE10-9C8B-88AA-0B141255E46F}"/>
              </a:ext>
            </a:extLst>
          </p:cNvPr>
          <p:cNvSpPr/>
          <p:nvPr/>
        </p:nvSpPr>
        <p:spPr>
          <a:xfrm>
            <a:off x="9686923" y="4241800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ahmen 11">
            <a:extLst>
              <a:ext uri="{FF2B5EF4-FFF2-40B4-BE49-F238E27FC236}">
                <a16:creationId xmlns:a16="http://schemas.microsoft.com/office/drawing/2014/main" id="{D2D04C42-24BE-12D6-2BA7-EFB02C6E731F}"/>
              </a:ext>
            </a:extLst>
          </p:cNvPr>
          <p:cNvSpPr/>
          <p:nvPr/>
        </p:nvSpPr>
        <p:spPr>
          <a:xfrm>
            <a:off x="9135461" y="3641726"/>
            <a:ext cx="2751737" cy="2851149"/>
          </a:xfrm>
          <a:prstGeom prst="frame">
            <a:avLst>
              <a:gd name="adj1" fmla="val 260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2F7948D5-90A0-206F-E3DA-180DE70A6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01956"/>
              </p:ext>
            </p:extLst>
          </p:nvPr>
        </p:nvGraphicFramePr>
        <p:xfrm>
          <a:off x="6615605" y="1481932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14" name="Rahmen 13">
            <a:extLst>
              <a:ext uri="{FF2B5EF4-FFF2-40B4-BE49-F238E27FC236}">
                <a16:creationId xmlns:a16="http://schemas.microsoft.com/office/drawing/2014/main" id="{9EBD9034-E74E-EC71-7926-B065A3C4FBA9}"/>
              </a:ext>
            </a:extLst>
          </p:cNvPr>
          <p:cNvSpPr/>
          <p:nvPr/>
        </p:nvSpPr>
        <p:spPr>
          <a:xfrm>
            <a:off x="6615605" y="1429017"/>
            <a:ext cx="1695450" cy="1727200"/>
          </a:xfrm>
          <a:prstGeom prst="frame">
            <a:avLst>
              <a:gd name="adj1" fmla="val 260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7" name="Tabelle 16">
            <a:extLst>
              <a:ext uri="{FF2B5EF4-FFF2-40B4-BE49-F238E27FC236}">
                <a16:creationId xmlns:a16="http://schemas.microsoft.com/office/drawing/2014/main" id="{FDEEAECE-6538-B892-1902-0FBF7987E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216249"/>
              </p:ext>
            </p:extLst>
          </p:nvPr>
        </p:nvGraphicFramePr>
        <p:xfrm>
          <a:off x="6615605" y="4268257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18" name="Rahmen 17">
            <a:extLst>
              <a:ext uri="{FF2B5EF4-FFF2-40B4-BE49-F238E27FC236}">
                <a16:creationId xmlns:a16="http://schemas.microsoft.com/office/drawing/2014/main" id="{69E755A9-5E91-13DB-A636-7F3843D77D18}"/>
              </a:ext>
            </a:extLst>
          </p:cNvPr>
          <p:cNvSpPr/>
          <p:nvPr/>
        </p:nvSpPr>
        <p:spPr>
          <a:xfrm>
            <a:off x="6622610" y="4220109"/>
            <a:ext cx="1695450" cy="1727200"/>
          </a:xfrm>
          <a:prstGeom prst="frame">
            <a:avLst>
              <a:gd name="adj1" fmla="val 260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8732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D5B485-8343-75F1-CE33-209E664EA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Detecting</a:t>
            </a:r>
            <a:r>
              <a:rPr lang="de-DE" dirty="0"/>
              <a:t> </a:t>
            </a:r>
            <a:r>
              <a:rPr lang="de-DE" dirty="0" err="1"/>
              <a:t>patterns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detecting</a:t>
            </a:r>
            <a:r>
              <a:rPr lang="de-DE" dirty="0"/>
              <a:t> </a:t>
            </a:r>
            <a:r>
              <a:rPr lang="de-DE" dirty="0" err="1"/>
              <a:t>objects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D6F0F5-1FE0-A56A-5F55-5CE751D731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de-DE" sz="23900" b="1" dirty="0"/>
              <a:t>b</a:t>
            </a:r>
            <a:endParaRPr lang="en-US" sz="23900" b="1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5B22491-F01C-31C6-1E08-7248B8A8A9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de-DE" sz="23900" b="1" dirty="0"/>
              <a:t>d</a:t>
            </a:r>
            <a:endParaRPr lang="en-US" sz="23900" b="1" dirty="0"/>
          </a:p>
        </p:txBody>
      </p:sp>
    </p:spTree>
    <p:extLst>
      <p:ext uri="{BB962C8B-B14F-4D97-AF65-F5344CB8AC3E}">
        <p14:creationId xmlns:p14="http://schemas.microsoft.com/office/powerpoint/2010/main" val="810979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7CE5F5E6-AB94-9F78-9C60-BD714EA2B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723191"/>
              </p:ext>
            </p:extLst>
          </p:nvPr>
        </p:nvGraphicFramePr>
        <p:xfrm>
          <a:off x="1104898" y="659340"/>
          <a:ext cx="2705100" cy="2769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2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3055250320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509568051"/>
                    </a:ext>
                  </a:extLst>
                </a:gridCol>
              </a:tblGrid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577725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021690"/>
                  </a:ext>
                </a:extLst>
              </a:tr>
            </a:tbl>
          </a:graphicData>
        </a:graphic>
      </p:graphicFrame>
      <p:sp>
        <p:nvSpPr>
          <p:cNvPr id="9" name="Rahmen 8">
            <a:extLst>
              <a:ext uri="{FF2B5EF4-FFF2-40B4-BE49-F238E27FC236}">
                <a16:creationId xmlns:a16="http://schemas.microsoft.com/office/drawing/2014/main" id="{A02EDE25-9779-5A32-F285-135DCBAA31FD}"/>
              </a:ext>
            </a:extLst>
          </p:cNvPr>
          <p:cNvSpPr/>
          <p:nvPr/>
        </p:nvSpPr>
        <p:spPr>
          <a:xfrm>
            <a:off x="1609723" y="1177925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ahmen 3">
            <a:extLst>
              <a:ext uri="{FF2B5EF4-FFF2-40B4-BE49-F238E27FC236}">
                <a16:creationId xmlns:a16="http://schemas.microsoft.com/office/drawing/2014/main" id="{153AD0A6-FD4A-4490-A69E-65FC3452A5AB}"/>
              </a:ext>
            </a:extLst>
          </p:cNvPr>
          <p:cNvSpPr/>
          <p:nvPr/>
        </p:nvSpPr>
        <p:spPr>
          <a:xfrm>
            <a:off x="1058261" y="577851"/>
            <a:ext cx="2751737" cy="2851149"/>
          </a:xfrm>
          <a:prstGeom prst="frame">
            <a:avLst>
              <a:gd name="adj1" fmla="val 260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499D116F-F316-53EA-EF53-A8AA726E3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892055"/>
              </p:ext>
            </p:extLst>
          </p:nvPr>
        </p:nvGraphicFramePr>
        <p:xfrm>
          <a:off x="1104898" y="3627965"/>
          <a:ext cx="2705100" cy="2769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2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3055250320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509568051"/>
                    </a:ext>
                  </a:extLst>
                </a:gridCol>
              </a:tblGrid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577725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021690"/>
                  </a:ext>
                </a:extLst>
              </a:tr>
            </a:tbl>
          </a:graphicData>
        </a:graphic>
      </p:graphicFrame>
      <p:sp>
        <p:nvSpPr>
          <p:cNvPr id="11" name="Rahmen 10">
            <a:extLst>
              <a:ext uri="{FF2B5EF4-FFF2-40B4-BE49-F238E27FC236}">
                <a16:creationId xmlns:a16="http://schemas.microsoft.com/office/drawing/2014/main" id="{27C2C3D6-EE10-9C8B-88AA-0B141255E46F}"/>
              </a:ext>
            </a:extLst>
          </p:cNvPr>
          <p:cNvSpPr/>
          <p:nvPr/>
        </p:nvSpPr>
        <p:spPr>
          <a:xfrm>
            <a:off x="1609723" y="4146550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ahmen 11">
            <a:extLst>
              <a:ext uri="{FF2B5EF4-FFF2-40B4-BE49-F238E27FC236}">
                <a16:creationId xmlns:a16="http://schemas.microsoft.com/office/drawing/2014/main" id="{D2D04C42-24BE-12D6-2BA7-EFB02C6E731F}"/>
              </a:ext>
            </a:extLst>
          </p:cNvPr>
          <p:cNvSpPr/>
          <p:nvPr/>
        </p:nvSpPr>
        <p:spPr>
          <a:xfrm>
            <a:off x="1058261" y="3546476"/>
            <a:ext cx="2751737" cy="2851149"/>
          </a:xfrm>
          <a:prstGeom prst="frame">
            <a:avLst>
              <a:gd name="adj1" fmla="val 260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2F7948D5-90A0-206F-E3DA-180DE70A6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486401"/>
              </p:ext>
            </p:extLst>
          </p:nvPr>
        </p:nvGraphicFramePr>
        <p:xfrm>
          <a:off x="4867275" y="1872191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14" name="Rahmen 13">
            <a:extLst>
              <a:ext uri="{FF2B5EF4-FFF2-40B4-BE49-F238E27FC236}">
                <a16:creationId xmlns:a16="http://schemas.microsoft.com/office/drawing/2014/main" id="{9EBD9034-E74E-EC71-7926-B065A3C4FBA9}"/>
              </a:ext>
            </a:extLst>
          </p:cNvPr>
          <p:cNvSpPr/>
          <p:nvPr/>
        </p:nvSpPr>
        <p:spPr>
          <a:xfrm>
            <a:off x="4867275" y="1819276"/>
            <a:ext cx="1695450" cy="1727200"/>
          </a:xfrm>
          <a:prstGeom prst="frame">
            <a:avLst>
              <a:gd name="adj1" fmla="val 260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7" name="Tabelle 16">
            <a:extLst>
              <a:ext uri="{FF2B5EF4-FFF2-40B4-BE49-F238E27FC236}">
                <a16:creationId xmlns:a16="http://schemas.microsoft.com/office/drawing/2014/main" id="{FDEEAECE-6538-B892-1902-0FBF7987E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364605"/>
              </p:ext>
            </p:extLst>
          </p:nvPr>
        </p:nvGraphicFramePr>
        <p:xfrm>
          <a:off x="4860270" y="3594624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18" name="Rahmen 17">
            <a:extLst>
              <a:ext uri="{FF2B5EF4-FFF2-40B4-BE49-F238E27FC236}">
                <a16:creationId xmlns:a16="http://schemas.microsoft.com/office/drawing/2014/main" id="{69E755A9-5E91-13DB-A636-7F3843D77D18}"/>
              </a:ext>
            </a:extLst>
          </p:cNvPr>
          <p:cNvSpPr/>
          <p:nvPr/>
        </p:nvSpPr>
        <p:spPr>
          <a:xfrm>
            <a:off x="4867275" y="3546476"/>
            <a:ext cx="1695450" cy="1727200"/>
          </a:xfrm>
          <a:prstGeom prst="frame">
            <a:avLst>
              <a:gd name="adj1" fmla="val 260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6" name="Tabelle 15">
            <a:extLst>
              <a:ext uri="{FF2B5EF4-FFF2-40B4-BE49-F238E27FC236}">
                <a16:creationId xmlns:a16="http://schemas.microsoft.com/office/drawing/2014/main" id="{A63BB040-7DD7-69B3-809C-32F291A62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349733"/>
              </p:ext>
            </p:extLst>
          </p:nvPr>
        </p:nvGraphicFramePr>
        <p:xfrm>
          <a:off x="7029450" y="1890173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-7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19" name="Rahmen 18">
            <a:extLst>
              <a:ext uri="{FF2B5EF4-FFF2-40B4-BE49-F238E27FC236}">
                <a16:creationId xmlns:a16="http://schemas.microsoft.com/office/drawing/2014/main" id="{5617E37D-8950-277F-4715-3C04D592421F}"/>
              </a:ext>
            </a:extLst>
          </p:cNvPr>
          <p:cNvSpPr/>
          <p:nvPr/>
        </p:nvSpPr>
        <p:spPr>
          <a:xfrm>
            <a:off x="7029450" y="1837258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0" name="Tabelle 19">
            <a:extLst>
              <a:ext uri="{FF2B5EF4-FFF2-40B4-BE49-F238E27FC236}">
                <a16:creationId xmlns:a16="http://schemas.microsoft.com/office/drawing/2014/main" id="{3C4B2776-428D-72B2-47D8-1BB74FF32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739254"/>
              </p:ext>
            </p:extLst>
          </p:nvPr>
        </p:nvGraphicFramePr>
        <p:xfrm>
          <a:off x="7022445" y="3612606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-19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-17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-17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-17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21" name="Rahmen 20">
            <a:extLst>
              <a:ext uri="{FF2B5EF4-FFF2-40B4-BE49-F238E27FC236}">
                <a16:creationId xmlns:a16="http://schemas.microsoft.com/office/drawing/2014/main" id="{C22561FB-BF50-B85F-4029-57F27B8526BE}"/>
              </a:ext>
            </a:extLst>
          </p:cNvPr>
          <p:cNvSpPr/>
          <p:nvPr/>
        </p:nvSpPr>
        <p:spPr>
          <a:xfrm>
            <a:off x="7029450" y="3564458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2" name="Tabelle 21">
            <a:extLst>
              <a:ext uri="{FF2B5EF4-FFF2-40B4-BE49-F238E27FC236}">
                <a16:creationId xmlns:a16="http://schemas.microsoft.com/office/drawing/2014/main" id="{74071C1C-CA41-FD2C-104A-0A8F88D69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650122"/>
              </p:ext>
            </p:extLst>
          </p:nvPr>
        </p:nvGraphicFramePr>
        <p:xfrm>
          <a:off x="9384647" y="2749006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-29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-17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-31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23" name="Rahmen 22">
            <a:extLst>
              <a:ext uri="{FF2B5EF4-FFF2-40B4-BE49-F238E27FC236}">
                <a16:creationId xmlns:a16="http://schemas.microsoft.com/office/drawing/2014/main" id="{85027C39-85C5-2A42-2169-7B16EF9A9015}"/>
              </a:ext>
            </a:extLst>
          </p:cNvPr>
          <p:cNvSpPr/>
          <p:nvPr/>
        </p:nvSpPr>
        <p:spPr>
          <a:xfrm>
            <a:off x="9391652" y="2700858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Inhaltsplatzhalter 3">
            <a:extLst>
              <a:ext uri="{FF2B5EF4-FFF2-40B4-BE49-F238E27FC236}">
                <a16:creationId xmlns:a16="http://schemas.microsoft.com/office/drawing/2014/main" id="{7D910C00-E5A1-A7BF-015D-755F99DE8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48825" y="413266"/>
            <a:ext cx="2088283" cy="1753672"/>
          </a:xfrm>
        </p:spPr>
        <p:txBody>
          <a:bodyPr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de-DE" sz="23900" b="1" dirty="0"/>
              <a:t>b</a:t>
            </a:r>
            <a:endParaRPr lang="en-US" sz="23900" b="1" dirty="0"/>
          </a:p>
        </p:txBody>
      </p:sp>
    </p:spTree>
    <p:extLst>
      <p:ext uri="{BB962C8B-B14F-4D97-AF65-F5344CB8AC3E}">
        <p14:creationId xmlns:p14="http://schemas.microsoft.com/office/powerpoint/2010/main" val="27205122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7CE5F5E6-AB94-9F78-9C60-BD714EA2B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675000"/>
              </p:ext>
            </p:extLst>
          </p:nvPr>
        </p:nvGraphicFramePr>
        <p:xfrm>
          <a:off x="1104898" y="659340"/>
          <a:ext cx="2705100" cy="2769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2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3055250320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509568051"/>
                    </a:ext>
                  </a:extLst>
                </a:gridCol>
              </a:tblGrid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577725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021690"/>
                  </a:ext>
                </a:extLst>
              </a:tr>
            </a:tbl>
          </a:graphicData>
        </a:graphic>
      </p:graphicFrame>
      <p:sp>
        <p:nvSpPr>
          <p:cNvPr id="9" name="Rahmen 8">
            <a:extLst>
              <a:ext uri="{FF2B5EF4-FFF2-40B4-BE49-F238E27FC236}">
                <a16:creationId xmlns:a16="http://schemas.microsoft.com/office/drawing/2014/main" id="{A02EDE25-9779-5A32-F285-135DCBAA31FD}"/>
              </a:ext>
            </a:extLst>
          </p:cNvPr>
          <p:cNvSpPr/>
          <p:nvPr/>
        </p:nvSpPr>
        <p:spPr>
          <a:xfrm>
            <a:off x="1609723" y="1177925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ahmen 3">
            <a:extLst>
              <a:ext uri="{FF2B5EF4-FFF2-40B4-BE49-F238E27FC236}">
                <a16:creationId xmlns:a16="http://schemas.microsoft.com/office/drawing/2014/main" id="{153AD0A6-FD4A-4490-A69E-65FC3452A5AB}"/>
              </a:ext>
            </a:extLst>
          </p:cNvPr>
          <p:cNvSpPr/>
          <p:nvPr/>
        </p:nvSpPr>
        <p:spPr>
          <a:xfrm>
            <a:off x="1058261" y="577851"/>
            <a:ext cx="2751737" cy="2851149"/>
          </a:xfrm>
          <a:prstGeom prst="frame">
            <a:avLst>
              <a:gd name="adj1" fmla="val 260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499D116F-F316-53EA-EF53-A8AA726E3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792642"/>
              </p:ext>
            </p:extLst>
          </p:nvPr>
        </p:nvGraphicFramePr>
        <p:xfrm>
          <a:off x="1104898" y="3627965"/>
          <a:ext cx="2705100" cy="2769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2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3055250320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  <a:gridCol w="541020">
                  <a:extLst>
                    <a:ext uri="{9D8B030D-6E8A-4147-A177-3AD203B41FA5}">
                      <a16:colId xmlns:a16="http://schemas.microsoft.com/office/drawing/2014/main" val="2509568051"/>
                    </a:ext>
                  </a:extLst>
                </a:gridCol>
              </a:tblGrid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577725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  <a:tr h="55393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021690"/>
                  </a:ext>
                </a:extLst>
              </a:tr>
            </a:tbl>
          </a:graphicData>
        </a:graphic>
      </p:graphicFrame>
      <p:sp>
        <p:nvSpPr>
          <p:cNvPr id="11" name="Rahmen 10">
            <a:extLst>
              <a:ext uri="{FF2B5EF4-FFF2-40B4-BE49-F238E27FC236}">
                <a16:creationId xmlns:a16="http://schemas.microsoft.com/office/drawing/2014/main" id="{27C2C3D6-EE10-9C8B-88AA-0B141255E46F}"/>
              </a:ext>
            </a:extLst>
          </p:cNvPr>
          <p:cNvSpPr/>
          <p:nvPr/>
        </p:nvSpPr>
        <p:spPr>
          <a:xfrm>
            <a:off x="1609723" y="4146550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ahmen 11">
            <a:extLst>
              <a:ext uri="{FF2B5EF4-FFF2-40B4-BE49-F238E27FC236}">
                <a16:creationId xmlns:a16="http://schemas.microsoft.com/office/drawing/2014/main" id="{D2D04C42-24BE-12D6-2BA7-EFB02C6E731F}"/>
              </a:ext>
            </a:extLst>
          </p:cNvPr>
          <p:cNvSpPr/>
          <p:nvPr/>
        </p:nvSpPr>
        <p:spPr>
          <a:xfrm>
            <a:off x="1058261" y="3546476"/>
            <a:ext cx="2751737" cy="2851149"/>
          </a:xfrm>
          <a:prstGeom prst="frame">
            <a:avLst>
              <a:gd name="adj1" fmla="val 260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2F7948D5-90A0-206F-E3DA-180DE70A6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873185"/>
              </p:ext>
            </p:extLst>
          </p:nvPr>
        </p:nvGraphicFramePr>
        <p:xfrm>
          <a:off x="4867275" y="1872191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14" name="Rahmen 13">
            <a:extLst>
              <a:ext uri="{FF2B5EF4-FFF2-40B4-BE49-F238E27FC236}">
                <a16:creationId xmlns:a16="http://schemas.microsoft.com/office/drawing/2014/main" id="{9EBD9034-E74E-EC71-7926-B065A3C4FBA9}"/>
              </a:ext>
            </a:extLst>
          </p:cNvPr>
          <p:cNvSpPr/>
          <p:nvPr/>
        </p:nvSpPr>
        <p:spPr>
          <a:xfrm>
            <a:off x="4867275" y="1819276"/>
            <a:ext cx="1695450" cy="1727200"/>
          </a:xfrm>
          <a:prstGeom prst="frame">
            <a:avLst>
              <a:gd name="adj1" fmla="val 260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7" name="Tabelle 16">
            <a:extLst>
              <a:ext uri="{FF2B5EF4-FFF2-40B4-BE49-F238E27FC236}">
                <a16:creationId xmlns:a16="http://schemas.microsoft.com/office/drawing/2014/main" id="{FDEEAECE-6538-B892-1902-0FBF7987E06F}"/>
              </a:ext>
            </a:extLst>
          </p:cNvPr>
          <p:cNvGraphicFramePr>
            <a:graphicFrameLocks noGrp="1"/>
          </p:cNvGraphicFramePr>
          <p:nvPr/>
        </p:nvGraphicFramePr>
        <p:xfrm>
          <a:off x="4860270" y="3594624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18" name="Rahmen 17">
            <a:extLst>
              <a:ext uri="{FF2B5EF4-FFF2-40B4-BE49-F238E27FC236}">
                <a16:creationId xmlns:a16="http://schemas.microsoft.com/office/drawing/2014/main" id="{69E755A9-5E91-13DB-A636-7F3843D77D18}"/>
              </a:ext>
            </a:extLst>
          </p:cNvPr>
          <p:cNvSpPr/>
          <p:nvPr/>
        </p:nvSpPr>
        <p:spPr>
          <a:xfrm>
            <a:off x="4867275" y="3546476"/>
            <a:ext cx="1695450" cy="1727200"/>
          </a:xfrm>
          <a:prstGeom prst="frame">
            <a:avLst>
              <a:gd name="adj1" fmla="val 260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6" name="Tabelle 15">
            <a:extLst>
              <a:ext uri="{FF2B5EF4-FFF2-40B4-BE49-F238E27FC236}">
                <a16:creationId xmlns:a16="http://schemas.microsoft.com/office/drawing/2014/main" id="{A63BB040-7DD7-69B3-809C-32F291A62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259587"/>
              </p:ext>
            </p:extLst>
          </p:nvPr>
        </p:nvGraphicFramePr>
        <p:xfrm>
          <a:off x="7029450" y="1890173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19" name="Rahmen 18">
            <a:extLst>
              <a:ext uri="{FF2B5EF4-FFF2-40B4-BE49-F238E27FC236}">
                <a16:creationId xmlns:a16="http://schemas.microsoft.com/office/drawing/2014/main" id="{5617E37D-8950-277F-4715-3C04D592421F}"/>
              </a:ext>
            </a:extLst>
          </p:cNvPr>
          <p:cNvSpPr/>
          <p:nvPr/>
        </p:nvSpPr>
        <p:spPr>
          <a:xfrm>
            <a:off x="7029450" y="1837258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0" name="Tabelle 19">
            <a:extLst>
              <a:ext uri="{FF2B5EF4-FFF2-40B4-BE49-F238E27FC236}">
                <a16:creationId xmlns:a16="http://schemas.microsoft.com/office/drawing/2014/main" id="{3C4B2776-428D-72B2-47D8-1BB74FF32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857336"/>
              </p:ext>
            </p:extLst>
          </p:nvPr>
        </p:nvGraphicFramePr>
        <p:xfrm>
          <a:off x="7022445" y="3612606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-17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-19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-17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-17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21" name="Rahmen 20">
            <a:extLst>
              <a:ext uri="{FF2B5EF4-FFF2-40B4-BE49-F238E27FC236}">
                <a16:creationId xmlns:a16="http://schemas.microsoft.com/office/drawing/2014/main" id="{C22561FB-BF50-B85F-4029-57F27B8526BE}"/>
              </a:ext>
            </a:extLst>
          </p:cNvPr>
          <p:cNvSpPr/>
          <p:nvPr/>
        </p:nvSpPr>
        <p:spPr>
          <a:xfrm>
            <a:off x="7029450" y="3564458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2" name="Tabelle 21">
            <a:extLst>
              <a:ext uri="{FF2B5EF4-FFF2-40B4-BE49-F238E27FC236}">
                <a16:creationId xmlns:a16="http://schemas.microsoft.com/office/drawing/2014/main" id="{74071C1C-CA41-FD2C-104A-0A8F88D69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049269"/>
              </p:ext>
            </p:extLst>
          </p:nvPr>
        </p:nvGraphicFramePr>
        <p:xfrm>
          <a:off x="9384647" y="2749006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-17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-17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-26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23" name="Rahmen 22">
            <a:extLst>
              <a:ext uri="{FF2B5EF4-FFF2-40B4-BE49-F238E27FC236}">
                <a16:creationId xmlns:a16="http://schemas.microsoft.com/office/drawing/2014/main" id="{85027C39-85C5-2A42-2169-7B16EF9A9015}"/>
              </a:ext>
            </a:extLst>
          </p:cNvPr>
          <p:cNvSpPr/>
          <p:nvPr/>
        </p:nvSpPr>
        <p:spPr>
          <a:xfrm>
            <a:off x="9391652" y="2700858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Inhaltsplatzhalter 3">
            <a:extLst>
              <a:ext uri="{FF2B5EF4-FFF2-40B4-BE49-F238E27FC236}">
                <a16:creationId xmlns:a16="http://schemas.microsoft.com/office/drawing/2014/main" id="{7D910C00-E5A1-A7BF-015D-755F99DE8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48825" y="413266"/>
            <a:ext cx="2088283" cy="1753672"/>
          </a:xfrm>
        </p:spPr>
        <p:txBody>
          <a:bodyPr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de-DE" sz="23900" b="1" dirty="0"/>
              <a:t>d</a:t>
            </a:r>
            <a:endParaRPr lang="en-US" sz="23900" b="1" dirty="0"/>
          </a:p>
        </p:txBody>
      </p:sp>
    </p:spTree>
    <p:extLst>
      <p:ext uri="{BB962C8B-B14F-4D97-AF65-F5344CB8AC3E}">
        <p14:creationId xmlns:p14="http://schemas.microsoft.com/office/powerpoint/2010/main" val="5385143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D5B485-8343-75F1-CE33-209E664EA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Detecting</a:t>
            </a:r>
            <a:r>
              <a:rPr lang="de-DE" dirty="0"/>
              <a:t> </a:t>
            </a:r>
            <a:r>
              <a:rPr lang="de-DE" dirty="0" err="1"/>
              <a:t>patterns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</a:t>
            </a:r>
            <a:r>
              <a:rPr lang="de-DE" dirty="0" err="1"/>
              <a:t>detecting</a:t>
            </a:r>
            <a:r>
              <a:rPr lang="de-DE" dirty="0"/>
              <a:t> </a:t>
            </a:r>
            <a:r>
              <a:rPr lang="de-DE" dirty="0" err="1"/>
              <a:t>objects</a:t>
            </a:r>
            <a:endParaRPr lang="en-US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FD6F0F5-1FE0-A56A-5F55-5CE751D731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de-DE" sz="16600" b="1" dirty="0"/>
              <a:t>b</a:t>
            </a:r>
            <a:endParaRPr lang="en-US" sz="16600" b="1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5B22491-F01C-31C6-1E08-7248B8A8A9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de-DE" sz="16600" b="1" dirty="0"/>
              <a:t>d</a:t>
            </a:r>
            <a:endParaRPr lang="en-US" sz="16600" b="1" dirty="0"/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B06920C7-C329-F7D1-7F97-6F5EF520B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972664"/>
              </p:ext>
            </p:extLst>
          </p:nvPr>
        </p:nvGraphicFramePr>
        <p:xfrm>
          <a:off x="2532997" y="4082506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-29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-17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-31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6" name="Rahmen 5">
            <a:extLst>
              <a:ext uri="{FF2B5EF4-FFF2-40B4-BE49-F238E27FC236}">
                <a16:creationId xmlns:a16="http://schemas.microsoft.com/office/drawing/2014/main" id="{1DE36664-8896-AF9D-9F73-5ADEDC6E4A8B}"/>
              </a:ext>
            </a:extLst>
          </p:cNvPr>
          <p:cNvSpPr/>
          <p:nvPr/>
        </p:nvSpPr>
        <p:spPr>
          <a:xfrm>
            <a:off x="2540002" y="4034358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F324FAE0-7D08-1CDD-D0A6-7C6E17C41B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316896"/>
              </p:ext>
            </p:extLst>
          </p:nvPr>
        </p:nvGraphicFramePr>
        <p:xfrm>
          <a:off x="7949543" y="4077739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-24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-17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-17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-26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8" name="Rahmen 7">
            <a:extLst>
              <a:ext uri="{FF2B5EF4-FFF2-40B4-BE49-F238E27FC236}">
                <a16:creationId xmlns:a16="http://schemas.microsoft.com/office/drawing/2014/main" id="{88615035-903C-BE3C-5714-DCE1D9D2A6C7}"/>
              </a:ext>
            </a:extLst>
          </p:cNvPr>
          <p:cNvSpPr/>
          <p:nvPr/>
        </p:nvSpPr>
        <p:spPr>
          <a:xfrm>
            <a:off x="7956548" y="4029591"/>
            <a:ext cx="1695450" cy="1727200"/>
          </a:xfrm>
          <a:prstGeom prst="frame">
            <a:avLst>
              <a:gd name="adj1" fmla="val 2604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2146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DE76E6-47CB-7C1E-3B70-2F31600D0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Common </a:t>
            </a:r>
            <a:r>
              <a:rPr lang="de-DE" dirty="0" err="1"/>
              <a:t>kernels</a:t>
            </a:r>
            <a:endParaRPr lang="en-US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74944DC6-8DDC-D03D-F251-60BAEEC604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122920"/>
              </p:ext>
            </p:extLst>
          </p:nvPr>
        </p:nvGraphicFramePr>
        <p:xfrm>
          <a:off x="2288832" y="2038320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6" name="Rahmen 5">
            <a:extLst>
              <a:ext uri="{FF2B5EF4-FFF2-40B4-BE49-F238E27FC236}">
                <a16:creationId xmlns:a16="http://schemas.microsoft.com/office/drawing/2014/main" id="{4DA08534-15D7-6F0E-7AB2-3B260A66026A}"/>
              </a:ext>
            </a:extLst>
          </p:cNvPr>
          <p:cNvSpPr/>
          <p:nvPr/>
        </p:nvSpPr>
        <p:spPr>
          <a:xfrm>
            <a:off x="2288832" y="1985405"/>
            <a:ext cx="1695450" cy="1727200"/>
          </a:xfrm>
          <a:prstGeom prst="frame">
            <a:avLst>
              <a:gd name="adj1" fmla="val 260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F8C5DD3-132E-7CA4-336A-7FCFA8887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041" y="1515216"/>
            <a:ext cx="2760575" cy="242843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30A7683-D2C2-8ADC-F7FF-9F766D26C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457" y="1515218"/>
            <a:ext cx="2760576" cy="2428436"/>
          </a:xfrm>
          <a:prstGeom prst="rect">
            <a:avLst/>
          </a:prstGeom>
        </p:spPr>
      </p:pic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6EC02226-A6E7-205D-FA15-23C86B4F3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899306"/>
              </p:ext>
            </p:extLst>
          </p:nvPr>
        </p:nvGraphicFramePr>
        <p:xfrm>
          <a:off x="2288832" y="4711498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14" name="Rahmen 13">
            <a:extLst>
              <a:ext uri="{FF2B5EF4-FFF2-40B4-BE49-F238E27FC236}">
                <a16:creationId xmlns:a16="http://schemas.microsoft.com/office/drawing/2014/main" id="{195F4DE4-3CC9-3D68-9C0D-39AE4C312312}"/>
              </a:ext>
            </a:extLst>
          </p:cNvPr>
          <p:cNvSpPr/>
          <p:nvPr/>
        </p:nvSpPr>
        <p:spPr>
          <a:xfrm>
            <a:off x="2288832" y="4658583"/>
            <a:ext cx="1695450" cy="1727200"/>
          </a:xfrm>
          <a:prstGeom prst="frame">
            <a:avLst>
              <a:gd name="adj1" fmla="val 260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FD89D54-BF1D-FF9C-2327-EE85D6966825}"/>
              </a:ext>
            </a:extLst>
          </p:cNvPr>
          <p:cNvSpPr txBox="1"/>
          <p:nvPr/>
        </p:nvSpPr>
        <p:spPr>
          <a:xfrm>
            <a:off x="551935" y="2552296"/>
            <a:ext cx="1537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Sobel: </a:t>
            </a:r>
            <a:r>
              <a:rPr lang="de-DE" dirty="0" err="1"/>
              <a:t>edge</a:t>
            </a:r>
            <a:r>
              <a:rPr lang="de-DE" dirty="0"/>
              <a:t> </a:t>
            </a:r>
            <a:r>
              <a:rPr lang="de-DE" dirty="0" err="1"/>
              <a:t>detection</a:t>
            </a:r>
            <a:endParaRPr lang="en-US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F1F175B-E60D-2003-71AB-96F5029333CE}"/>
              </a:ext>
            </a:extLst>
          </p:cNvPr>
          <p:cNvSpPr txBox="1"/>
          <p:nvPr/>
        </p:nvSpPr>
        <p:spPr>
          <a:xfrm>
            <a:off x="551935" y="5225474"/>
            <a:ext cx="153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sharpening</a:t>
            </a:r>
            <a:endParaRPr lang="en-US" dirty="0"/>
          </a:p>
        </p:txBody>
      </p:sp>
      <p:graphicFrame>
        <p:nvGraphicFramePr>
          <p:cNvPr id="17" name="Tabelle 16">
            <a:extLst>
              <a:ext uri="{FF2B5EF4-FFF2-40B4-BE49-F238E27FC236}">
                <a16:creationId xmlns:a16="http://schemas.microsoft.com/office/drawing/2014/main" id="{82BC14AF-F9C6-2A9E-43B7-BD14A3E16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463601"/>
              </p:ext>
            </p:extLst>
          </p:nvPr>
        </p:nvGraphicFramePr>
        <p:xfrm>
          <a:off x="6420108" y="4711498"/>
          <a:ext cx="1695450" cy="1674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4289679975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988098997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1254592664"/>
                    </a:ext>
                  </a:extLst>
                </a:gridCol>
              </a:tblGrid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68183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2248"/>
                  </a:ext>
                </a:extLst>
              </a:tr>
              <a:tr h="558095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09783"/>
                  </a:ext>
                </a:extLst>
              </a:tr>
            </a:tbl>
          </a:graphicData>
        </a:graphic>
      </p:graphicFrame>
      <p:sp>
        <p:nvSpPr>
          <p:cNvPr id="18" name="Rahmen 17">
            <a:extLst>
              <a:ext uri="{FF2B5EF4-FFF2-40B4-BE49-F238E27FC236}">
                <a16:creationId xmlns:a16="http://schemas.microsoft.com/office/drawing/2014/main" id="{A043D4A0-7BCE-B244-FBE9-A8DF78E1F37F}"/>
              </a:ext>
            </a:extLst>
          </p:cNvPr>
          <p:cNvSpPr/>
          <p:nvPr/>
        </p:nvSpPr>
        <p:spPr>
          <a:xfrm>
            <a:off x="6420108" y="4658583"/>
            <a:ext cx="1695450" cy="1727200"/>
          </a:xfrm>
          <a:prstGeom prst="frame">
            <a:avLst>
              <a:gd name="adj1" fmla="val 260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AF22DD8-0F59-796C-04CA-1F62C88888AC}"/>
              </a:ext>
            </a:extLst>
          </p:cNvPr>
          <p:cNvSpPr txBox="1"/>
          <p:nvPr/>
        </p:nvSpPr>
        <p:spPr>
          <a:xfrm>
            <a:off x="4683211" y="5225474"/>
            <a:ext cx="153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Box </a:t>
            </a:r>
            <a:r>
              <a:rPr lang="de-DE" dirty="0" err="1"/>
              <a:t>blur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6066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95158A-E51B-1867-7D3E-47A6024CB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Pytorch</a:t>
            </a:r>
            <a:r>
              <a:rPr lang="de-DE" dirty="0"/>
              <a:t> </a:t>
            </a:r>
            <a:r>
              <a:rPr lang="de-DE" dirty="0" err="1"/>
              <a:t>implementation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F33273-3061-CDEF-68C6-56FE1AF87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0" y="460374"/>
            <a:ext cx="5181600" cy="639762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torch.nn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torch.nn.functional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F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CNN(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nn.Module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__(self):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super().__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self.conv1 = nn.Conv2d(3, 6, 5)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self.conv2 = nn.Conv2d(6, 16, 5)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self.fc1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nn.Linear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(16 * 24 * 24, 120)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self.fc2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nn.Linear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(120, 84)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self.fc3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nn.Linear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(84, 10)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def forward(self, x):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F.relu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(self.conv1(x))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F.relu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(self.conv2(x))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torch.flatten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(x, 1)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F.relu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(self.fc1(x))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F.relu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(self.fc2(x))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x = self.fc3(x)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x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model = CNN()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02A3D44-0665-24A2-F07F-C7AECF09D3BB}"/>
              </a:ext>
            </a:extLst>
          </p:cNvPr>
          <p:cNvSpPr/>
          <p:nvPr/>
        </p:nvSpPr>
        <p:spPr>
          <a:xfrm>
            <a:off x="9426575" y="2297015"/>
            <a:ext cx="577850" cy="215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9F3FCB6-B99B-EF4C-AEC6-D6510B95529C}"/>
              </a:ext>
            </a:extLst>
          </p:cNvPr>
          <p:cNvSpPr/>
          <p:nvPr/>
        </p:nvSpPr>
        <p:spPr>
          <a:xfrm>
            <a:off x="10064750" y="2295525"/>
            <a:ext cx="171450" cy="2159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FA32646-1603-A0C5-8DCF-B93CAC84285E}"/>
              </a:ext>
            </a:extLst>
          </p:cNvPr>
          <p:cNvSpPr/>
          <p:nvPr/>
        </p:nvSpPr>
        <p:spPr>
          <a:xfrm>
            <a:off x="10350500" y="2295525"/>
            <a:ext cx="171450" cy="2159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1F0465D-682B-418C-A5D4-240ACE70D407}"/>
              </a:ext>
            </a:extLst>
          </p:cNvPr>
          <p:cNvSpPr/>
          <p:nvPr/>
        </p:nvSpPr>
        <p:spPr>
          <a:xfrm>
            <a:off x="10636250" y="2295525"/>
            <a:ext cx="171450" cy="2159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D78DA7EB-15E2-3821-AC25-8530E62956FD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5181600" cy="4211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6451003-F5CA-64F9-32E3-E2E6A109E826}"/>
              </a:ext>
            </a:extLst>
          </p:cNvPr>
          <p:cNvSpPr txBox="1"/>
          <p:nvPr/>
        </p:nvSpPr>
        <p:spPr>
          <a:xfrm>
            <a:off x="883298" y="1878563"/>
            <a:ext cx="54381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FF0000"/>
                </a:solidFill>
              </a:rPr>
              <a:t>Conv2D</a:t>
            </a:r>
            <a:r>
              <a:rPr lang="de-DE" dirty="0"/>
              <a:t>: 2D </a:t>
            </a:r>
            <a:r>
              <a:rPr lang="de-DE" dirty="0" err="1"/>
              <a:t>convolutional</a:t>
            </a:r>
            <a:r>
              <a:rPr lang="de-DE" dirty="0"/>
              <a:t> </a:t>
            </a:r>
            <a:r>
              <a:rPr lang="de-DE" dirty="0" err="1"/>
              <a:t>layer</a:t>
            </a:r>
            <a:r>
              <a:rPr lang="de-DE" dirty="0"/>
              <a:t>; </a:t>
            </a:r>
            <a:r>
              <a:rPr lang="de-DE" dirty="0" err="1"/>
              <a:t>essentially</a:t>
            </a:r>
            <a:r>
              <a:rPr lang="de-DE" dirty="0"/>
              <a:t> a </a:t>
            </a:r>
            <a:r>
              <a:rPr lang="de-DE" dirty="0" err="1"/>
              <a:t>stack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kernels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0070C0"/>
                </a:solidFill>
              </a:rPr>
              <a:t>in_channels</a:t>
            </a:r>
            <a:r>
              <a:rPr lang="de-DE" dirty="0"/>
              <a:t>: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(color-)</a:t>
            </a:r>
            <a:r>
              <a:rPr lang="de-DE" dirty="0" err="1"/>
              <a:t>channels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kernels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input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00B050"/>
                </a:solidFill>
              </a:rPr>
              <a:t>out_channels</a:t>
            </a:r>
            <a:r>
              <a:rPr lang="de-DE" dirty="0"/>
              <a:t>: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kernels</a:t>
            </a:r>
            <a:r>
              <a:rPr lang="de-DE" dirty="0"/>
              <a:t> (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outputs</a:t>
            </a:r>
            <a:r>
              <a:rPr lang="de-DE" dirty="0">
                <a:sym typeface="Wingdings" panose="05000000000000000000" pitchFamily="2" charset="2"/>
              </a:rPr>
              <a:t>)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layer</a:t>
            </a:r>
            <a:endParaRPr lang="de-DE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FFFF00"/>
                </a:solidFill>
                <a:sym typeface="Wingdings" panose="05000000000000000000" pitchFamily="2" charset="2"/>
              </a:rPr>
              <a:t>kernel_size</a:t>
            </a:r>
            <a:r>
              <a:rPr lang="de-DE" dirty="0">
                <a:sym typeface="Wingdings" panose="05000000000000000000" pitchFamily="2" charset="2"/>
              </a:rPr>
              <a:t>: </a:t>
            </a:r>
            <a:r>
              <a:rPr lang="de-DE" dirty="0" err="1">
                <a:sym typeface="Wingdings" panose="05000000000000000000" pitchFamily="2" charset="2"/>
              </a:rPr>
              <a:t>size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kernels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 err="1">
                <a:sym typeface="Wingdings" panose="05000000000000000000" pitchFamily="2" charset="2"/>
              </a:rPr>
              <a:t>square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tuple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sizes</a:t>
            </a:r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Other </a:t>
            </a:r>
            <a:r>
              <a:rPr lang="de-DE" dirty="0" err="1">
                <a:sym typeface="Wingdings" panose="05000000000000000000" pitchFamily="2" charset="2"/>
              </a:rPr>
              <a:t>arguments</a:t>
            </a:r>
            <a:r>
              <a:rPr lang="de-DE" dirty="0">
                <a:sym typeface="Wingdings" panose="05000000000000000000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stride</a:t>
            </a:r>
            <a:r>
              <a:rPr lang="de-DE" dirty="0"/>
              <a:t>: shift in </a:t>
            </a:r>
            <a:r>
              <a:rPr lang="de-DE" dirty="0" err="1"/>
              <a:t>kernel</a:t>
            </a:r>
            <a:r>
              <a:rPr lang="de-DE" dirty="0"/>
              <a:t> </a:t>
            </a:r>
            <a:r>
              <a:rPr lang="de-DE" dirty="0" err="1"/>
              <a:t>passes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padding</a:t>
            </a:r>
            <a:r>
              <a:rPr lang="de-DE" dirty="0"/>
              <a:t>: </a:t>
            </a:r>
            <a:r>
              <a:rPr lang="de-DE" dirty="0" err="1"/>
              <a:t>whether</a:t>
            </a:r>
            <a:r>
              <a:rPr lang="de-DE" dirty="0"/>
              <a:t>/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pad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0158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95158A-E51B-1867-7D3E-47A6024CB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Pytorch</a:t>
            </a:r>
            <a:r>
              <a:rPr lang="de-DE" dirty="0"/>
              <a:t> </a:t>
            </a:r>
            <a:r>
              <a:rPr lang="de-DE" dirty="0" err="1"/>
              <a:t>implementation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F33273-3061-CDEF-68C6-56FE1AF87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0" y="460374"/>
            <a:ext cx="5181600" cy="639762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torch.nn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torch.nn.functional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F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CNN(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nn.Module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__(self):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super().__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self.conv1 = nn.Conv2d(3, 6, 5)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self.conv2 = nn.Conv2d(6, 16, 5)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self.fc1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nn.Linear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(16 * 24 * 24, 120)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self.fc2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nn.Linear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(120, 84)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self.fc3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nn.Linear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(84, 10)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def forward(self, x):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self.pool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F.relu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(self.conv1(x)))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self.pool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F.relu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(self.conv2(x)))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torch.flatten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(x, 1)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F.relu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(self.fc1(x))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F.relu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(self.fc2(x))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x = self.fc3(x)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x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model = CNN()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02A3D44-0665-24A2-F07F-C7AECF09D3BB}"/>
              </a:ext>
            </a:extLst>
          </p:cNvPr>
          <p:cNvSpPr/>
          <p:nvPr/>
        </p:nvSpPr>
        <p:spPr>
          <a:xfrm>
            <a:off x="9426575" y="2297015"/>
            <a:ext cx="577850" cy="2159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9F3FCB6-B99B-EF4C-AEC6-D6510B95529C}"/>
              </a:ext>
            </a:extLst>
          </p:cNvPr>
          <p:cNvSpPr/>
          <p:nvPr/>
        </p:nvSpPr>
        <p:spPr>
          <a:xfrm>
            <a:off x="10064750" y="2295525"/>
            <a:ext cx="171450" cy="2159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FA32646-1603-A0C5-8DCF-B93CAC84285E}"/>
              </a:ext>
            </a:extLst>
          </p:cNvPr>
          <p:cNvSpPr/>
          <p:nvPr/>
        </p:nvSpPr>
        <p:spPr>
          <a:xfrm>
            <a:off x="10350500" y="2295525"/>
            <a:ext cx="171450" cy="2159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1F0465D-682B-418C-A5D4-240ACE70D407}"/>
              </a:ext>
            </a:extLst>
          </p:cNvPr>
          <p:cNvSpPr/>
          <p:nvPr/>
        </p:nvSpPr>
        <p:spPr>
          <a:xfrm>
            <a:off x="10636250" y="2295525"/>
            <a:ext cx="171450" cy="2159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D78DA7EB-15E2-3821-AC25-8530E62956FD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5181600" cy="4211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6451003-F5CA-64F9-32E3-E2E6A109E826}"/>
              </a:ext>
            </a:extLst>
          </p:cNvPr>
          <p:cNvSpPr txBox="1"/>
          <p:nvPr/>
        </p:nvSpPr>
        <p:spPr>
          <a:xfrm>
            <a:off x="883298" y="1878563"/>
            <a:ext cx="54381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FF0000"/>
                </a:solidFill>
              </a:rPr>
              <a:t>Conv2D</a:t>
            </a:r>
            <a:r>
              <a:rPr lang="de-DE" dirty="0"/>
              <a:t>: 2D </a:t>
            </a:r>
            <a:r>
              <a:rPr lang="de-DE" dirty="0" err="1"/>
              <a:t>convolutional</a:t>
            </a:r>
            <a:r>
              <a:rPr lang="de-DE" dirty="0"/>
              <a:t> </a:t>
            </a:r>
            <a:r>
              <a:rPr lang="de-DE" dirty="0" err="1"/>
              <a:t>layer</a:t>
            </a:r>
            <a:r>
              <a:rPr lang="de-DE" dirty="0"/>
              <a:t>; </a:t>
            </a:r>
            <a:r>
              <a:rPr lang="de-DE" dirty="0" err="1"/>
              <a:t>essentially</a:t>
            </a:r>
            <a:r>
              <a:rPr lang="de-DE" dirty="0"/>
              <a:t> a </a:t>
            </a:r>
            <a:r>
              <a:rPr lang="de-DE" dirty="0" err="1"/>
              <a:t>stack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kernels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0070C0"/>
                </a:solidFill>
              </a:rPr>
              <a:t>in_channels</a:t>
            </a:r>
            <a:r>
              <a:rPr lang="de-DE" dirty="0"/>
              <a:t>: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(color-)</a:t>
            </a:r>
            <a:r>
              <a:rPr lang="de-DE" dirty="0" err="1"/>
              <a:t>channels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kernels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input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00B050"/>
                </a:solidFill>
              </a:rPr>
              <a:t>out_channels</a:t>
            </a:r>
            <a:r>
              <a:rPr lang="de-DE" dirty="0"/>
              <a:t>: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kernels</a:t>
            </a:r>
            <a:r>
              <a:rPr lang="de-DE" dirty="0"/>
              <a:t> (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outputs</a:t>
            </a:r>
            <a:r>
              <a:rPr lang="de-DE" dirty="0">
                <a:sym typeface="Wingdings" panose="05000000000000000000" pitchFamily="2" charset="2"/>
              </a:rPr>
              <a:t>)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layer</a:t>
            </a:r>
            <a:endParaRPr lang="de-DE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solidFill>
                  <a:srgbClr val="FFFF00"/>
                </a:solidFill>
                <a:sym typeface="Wingdings" panose="05000000000000000000" pitchFamily="2" charset="2"/>
              </a:rPr>
              <a:t>kernel_size</a:t>
            </a:r>
            <a:r>
              <a:rPr lang="de-DE" dirty="0">
                <a:sym typeface="Wingdings" panose="05000000000000000000" pitchFamily="2" charset="2"/>
              </a:rPr>
              <a:t>: </a:t>
            </a:r>
            <a:r>
              <a:rPr lang="de-DE" dirty="0" err="1">
                <a:sym typeface="Wingdings" panose="05000000000000000000" pitchFamily="2" charset="2"/>
              </a:rPr>
              <a:t>size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the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kernels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 err="1">
                <a:sym typeface="Wingdings" panose="05000000000000000000" pitchFamily="2" charset="2"/>
              </a:rPr>
              <a:t>square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tuple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sizes</a:t>
            </a:r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Other </a:t>
            </a:r>
            <a:r>
              <a:rPr lang="de-DE" dirty="0" err="1">
                <a:sym typeface="Wingdings" panose="05000000000000000000" pitchFamily="2" charset="2"/>
              </a:rPr>
              <a:t>arguments</a:t>
            </a:r>
            <a:r>
              <a:rPr lang="de-DE" dirty="0">
                <a:sym typeface="Wingdings" panose="05000000000000000000" pitchFamily="2" charset="2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stride</a:t>
            </a:r>
            <a:r>
              <a:rPr lang="de-DE" dirty="0"/>
              <a:t>: shift in </a:t>
            </a:r>
            <a:r>
              <a:rPr lang="de-DE" dirty="0" err="1"/>
              <a:t>kernel</a:t>
            </a:r>
            <a:r>
              <a:rPr lang="de-DE" dirty="0"/>
              <a:t> </a:t>
            </a:r>
            <a:r>
              <a:rPr lang="de-DE" dirty="0" err="1"/>
              <a:t>passes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padding</a:t>
            </a:r>
            <a:r>
              <a:rPr lang="de-DE" dirty="0"/>
              <a:t>: </a:t>
            </a:r>
            <a:r>
              <a:rPr lang="de-DE" dirty="0" err="1"/>
              <a:t>whether</a:t>
            </a:r>
            <a:r>
              <a:rPr lang="de-DE" dirty="0"/>
              <a:t>/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pad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465CC3-03BF-4411-AF26-67C61DAFEE25}"/>
              </a:ext>
            </a:extLst>
          </p:cNvPr>
          <p:cNvSpPr txBox="1"/>
          <p:nvPr/>
        </p:nvSpPr>
        <p:spPr>
          <a:xfrm>
            <a:off x="584718" y="5187820"/>
            <a:ext cx="6127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Question: </a:t>
            </a:r>
            <a:r>
              <a:rPr lang="de-DE" b="1" dirty="0" err="1"/>
              <a:t>What</a:t>
            </a:r>
            <a:r>
              <a:rPr lang="de-DE" b="1" dirty="0"/>
              <a:t> </a:t>
            </a:r>
            <a:r>
              <a:rPr lang="de-DE" b="1" dirty="0" err="1"/>
              <a:t>size</a:t>
            </a:r>
            <a:r>
              <a:rPr lang="de-DE" b="1" dirty="0"/>
              <a:t> </a:t>
            </a:r>
            <a:r>
              <a:rPr lang="de-DE" b="1" dirty="0" err="1"/>
              <a:t>are</a:t>
            </a:r>
            <a:r>
              <a:rPr lang="de-DE" b="1" dirty="0"/>
              <a:t> </a:t>
            </a:r>
            <a:r>
              <a:rPr lang="de-DE" b="1" dirty="0" err="1"/>
              <a:t>the</a:t>
            </a:r>
            <a:r>
              <a:rPr lang="de-DE" b="1" dirty="0"/>
              <a:t> </a:t>
            </a:r>
            <a:r>
              <a:rPr lang="de-DE" b="1" dirty="0" err="1"/>
              <a:t>input</a:t>
            </a:r>
            <a:r>
              <a:rPr lang="de-DE" b="1" dirty="0"/>
              <a:t> </a:t>
            </a:r>
            <a:r>
              <a:rPr lang="de-DE" b="1" dirty="0" err="1"/>
              <a:t>images</a:t>
            </a:r>
            <a:r>
              <a:rPr lang="de-DE" b="1" dirty="0"/>
              <a:t>? </a:t>
            </a:r>
            <a:r>
              <a:rPr lang="de-DE" b="1" dirty="0" err="1"/>
              <a:t>Hint</a:t>
            </a:r>
            <a:r>
              <a:rPr lang="de-DE" b="1" dirty="0"/>
              <a:t>: </a:t>
            </a:r>
            <a:r>
              <a:rPr lang="de-DE" b="1" dirty="0" err="1"/>
              <a:t>default</a:t>
            </a:r>
            <a:r>
              <a:rPr lang="de-DE" b="1" dirty="0"/>
              <a:t> </a:t>
            </a:r>
            <a:r>
              <a:rPr lang="de-DE" b="1" dirty="0" err="1"/>
              <a:t>is</a:t>
            </a:r>
            <a:r>
              <a:rPr lang="de-DE" b="1" dirty="0"/>
              <a:t> </a:t>
            </a:r>
            <a:r>
              <a:rPr lang="de-DE" b="1" dirty="0" err="1"/>
              <a:t>no</a:t>
            </a:r>
            <a:r>
              <a:rPr lang="de-DE" b="1" dirty="0"/>
              <a:t> </a:t>
            </a:r>
            <a:r>
              <a:rPr lang="de-DE" b="1" dirty="0" err="1"/>
              <a:t>padding</a:t>
            </a:r>
            <a:r>
              <a:rPr lang="de-DE" b="1" dirty="0"/>
              <a:t>, </a:t>
            </a:r>
            <a:r>
              <a:rPr lang="de-DE" b="1" dirty="0" err="1"/>
              <a:t>stride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085797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C0040AE2-CDAA-1F35-FC41-5C87D74AA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128272"/>
              </p:ext>
            </p:extLst>
          </p:nvPr>
        </p:nvGraphicFramePr>
        <p:xfrm>
          <a:off x="2253856" y="0"/>
          <a:ext cx="7684288" cy="6858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134">
                  <a:extLst>
                    <a:ext uri="{9D8B030D-6E8A-4147-A177-3AD203B41FA5}">
                      <a16:colId xmlns:a16="http://schemas.microsoft.com/office/drawing/2014/main" val="1096606847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587923465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513739387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001126488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369634505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41644606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041490735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270013464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754738946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590022286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4212102350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551211574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568319645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128793933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7482341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536954239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900879238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505035708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476202188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73900772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116931942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272962127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263369052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484609942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1141058360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513614970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605085807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91424908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599995689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022554551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317342591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456843247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781076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16533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71347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25658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50293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929078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959047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391903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89865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108087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192047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807765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664805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758739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10209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035826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572979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496772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5258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640336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557538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868495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280559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457933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403664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465829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554513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929291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201497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323005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454825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504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68891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6AF6E7-2771-8F3E-8F3A-1EF0D5279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Pooling</a:t>
            </a:r>
            <a:endParaRPr lang="en-US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1BF0799-29DE-F7F1-6321-5F62A28A0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886974"/>
              </p:ext>
            </p:extLst>
          </p:nvPr>
        </p:nvGraphicFramePr>
        <p:xfrm>
          <a:off x="1397000" y="2091266"/>
          <a:ext cx="3454400" cy="3484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21418276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4289205669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460634487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372195804"/>
                    </a:ext>
                  </a:extLst>
                </a:gridCol>
              </a:tblGrid>
              <a:tr h="871009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382670"/>
                  </a:ext>
                </a:extLst>
              </a:tr>
              <a:tr h="871009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523451"/>
                  </a:ext>
                </a:extLst>
              </a:tr>
              <a:tr h="871009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414726"/>
                  </a:ext>
                </a:extLst>
              </a:tr>
              <a:tr h="871009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297082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5D29EC84-E8DC-3286-5E6F-E4E17C6C3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0016"/>
              </p:ext>
            </p:extLst>
          </p:nvPr>
        </p:nvGraphicFramePr>
        <p:xfrm>
          <a:off x="6045200" y="3075516"/>
          <a:ext cx="1543050" cy="1420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525">
                  <a:extLst>
                    <a:ext uri="{9D8B030D-6E8A-4147-A177-3AD203B41FA5}">
                      <a16:colId xmlns:a16="http://schemas.microsoft.com/office/drawing/2014/main" val="4285386715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15914675"/>
                    </a:ext>
                  </a:extLst>
                </a:gridCol>
              </a:tblGrid>
              <a:tr h="71014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117178"/>
                  </a:ext>
                </a:extLst>
              </a:tr>
              <a:tr h="71014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081418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F6455B24-1B10-A775-BE22-E6CC698331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06198"/>
              </p:ext>
            </p:extLst>
          </p:nvPr>
        </p:nvGraphicFramePr>
        <p:xfrm>
          <a:off x="8089900" y="3075516"/>
          <a:ext cx="1543050" cy="1420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525">
                  <a:extLst>
                    <a:ext uri="{9D8B030D-6E8A-4147-A177-3AD203B41FA5}">
                      <a16:colId xmlns:a16="http://schemas.microsoft.com/office/drawing/2014/main" val="4285386715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15914675"/>
                    </a:ext>
                  </a:extLst>
                </a:gridCol>
              </a:tblGrid>
              <a:tr h="71014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3.5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117178"/>
                  </a:ext>
                </a:extLst>
              </a:tr>
              <a:tr h="710142"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081418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3D8C2A07-E30E-494A-094C-AC6DCBBCA076}"/>
              </a:ext>
            </a:extLst>
          </p:cNvPr>
          <p:cNvSpPr txBox="1"/>
          <p:nvPr/>
        </p:nvSpPr>
        <p:spPr>
          <a:xfrm>
            <a:off x="7950200" y="2337483"/>
            <a:ext cx="1822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2x2 </a:t>
            </a:r>
          </a:p>
          <a:p>
            <a:pPr algn="ctr"/>
            <a:r>
              <a:rPr lang="de-DE" dirty="0" err="1"/>
              <a:t>average</a:t>
            </a:r>
            <a:r>
              <a:rPr lang="de-DE" dirty="0"/>
              <a:t> </a:t>
            </a:r>
            <a:r>
              <a:rPr lang="de-DE" dirty="0" err="1"/>
              <a:t>pooling</a:t>
            </a:r>
            <a:endParaRPr lang="en-US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FB5337F-411D-3DB5-3BB0-EC68C9B1547B}"/>
              </a:ext>
            </a:extLst>
          </p:cNvPr>
          <p:cNvSpPr txBox="1"/>
          <p:nvPr/>
        </p:nvSpPr>
        <p:spPr>
          <a:xfrm>
            <a:off x="5905500" y="2337484"/>
            <a:ext cx="1822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2x2 </a:t>
            </a:r>
          </a:p>
          <a:p>
            <a:pPr algn="ctr"/>
            <a:r>
              <a:rPr lang="de-DE" dirty="0" err="1"/>
              <a:t>max</a:t>
            </a:r>
            <a:r>
              <a:rPr lang="de-DE" dirty="0"/>
              <a:t> </a:t>
            </a:r>
            <a:r>
              <a:rPr lang="de-DE" dirty="0" err="1"/>
              <a:t>pooling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4649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C0040AE2-CDAA-1F35-FC41-5C87D74AA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267977"/>
              </p:ext>
            </p:extLst>
          </p:nvPr>
        </p:nvGraphicFramePr>
        <p:xfrm>
          <a:off x="2253856" y="0"/>
          <a:ext cx="7684288" cy="6858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134">
                  <a:extLst>
                    <a:ext uri="{9D8B030D-6E8A-4147-A177-3AD203B41FA5}">
                      <a16:colId xmlns:a16="http://schemas.microsoft.com/office/drawing/2014/main" val="1096606847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587923465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513739387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001126488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369634505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41644606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041490735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270013464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754738946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590022286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4212102350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551211574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568319645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128793933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7482341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536954239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900879238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505035708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476202188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73900772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116931942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272962127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263369052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484609942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1141058360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513614970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605085807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91424908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599995689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022554551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317342591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456843247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781076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16533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71347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25658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50293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929078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959047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391903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89865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108087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192047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807765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664805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758739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10209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035826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572979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496772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5258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640336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557538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868495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280559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457933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403664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465829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554513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929291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201497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323005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454825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504300"/>
                  </a:ext>
                </a:extLst>
              </a:tr>
            </a:tbl>
          </a:graphicData>
        </a:graphic>
      </p:graphicFrame>
      <p:sp>
        <p:nvSpPr>
          <p:cNvPr id="2" name="Textfeld 1">
            <a:extLst>
              <a:ext uri="{FF2B5EF4-FFF2-40B4-BE49-F238E27FC236}">
                <a16:creationId xmlns:a16="http://schemas.microsoft.com/office/drawing/2014/main" id="{91AC2C75-F967-C2C6-0730-A0C59B087230}"/>
              </a:ext>
            </a:extLst>
          </p:cNvPr>
          <p:cNvSpPr txBox="1"/>
          <p:nvPr/>
        </p:nvSpPr>
        <p:spPr>
          <a:xfrm>
            <a:off x="2253856" y="0"/>
            <a:ext cx="403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ighlight>
                  <a:srgbClr val="FFFF00"/>
                </a:highlight>
              </a:rPr>
              <a:t>2D </a:t>
            </a:r>
            <a:r>
              <a:rPr lang="de-DE" dirty="0" err="1">
                <a:highlight>
                  <a:srgbClr val="FFFF00"/>
                </a:highlight>
              </a:rPr>
              <a:t>convolution</a:t>
            </a:r>
            <a:r>
              <a:rPr lang="de-DE" dirty="0">
                <a:highlight>
                  <a:srgbClr val="FFFF00"/>
                </a:highlight>
              </a:rPr>
              <a:t>, 5x5 </a:t>
            </a:r>
            <a:r>
              <a:rPr lang="de-DE" dirty="0" err="1">
                <a:highlight>
                  <a:srgbClr val="FFFF00"/>
                </a:highlight>
              </a:rPr>
              <a:t>kernel</a:t>
            </a:r>
            <a:r>
              <a:rPr lang="de-DE" dirty="0">
                <a:highlight>
                  <a:srgbClr val="FFFF00"/>
                </a:highlight>
              </a:rPr>
              <a:t>, </a:t>
            </a:r>
            <a:r>
              <a:rPr lang="de-DE" dirty="0" err="1">
                <a:highlight>
                  <a:srgbClr val="FFFF00"/>
                </a:highlight>
              </a:rPr>
              <a:t>no</a:t>
            </a:r>
            <a:r>
              <a:rPr lang="de-DE" dirty="0">
                <a:highlight>
                  <a:srgbClr val="FFFF00"/>
                </a:highlight>
              </a:rPr>
              <a:t> </a:t>
            </a:r>
            <a:r>
              <a:rPr lang="de-DE" dirty="0" err="1">
                <a:highlight>
                  <a:srgbClr val="FFFF00"/>
                </a:highlight>
              </a:rPr>
              <a:t>padding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9B3B5A3-1806-CC76-DC8A-87E468BA797B}"/>
              </a:ext>
            </a:extLst>
          </p:cNvPr>
          <p:cNvSpPr txBox="1"/>
          <p:nvPr/>
        </p:nvSpPr>
        <p:spPr>
          <a:xfrm>
            <a:off x="2819006" y="539750"/>
            <a:ext cx="339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ighlight>
                  <a:srgbClr val="FFFF00"/>
                </a:highlight>
              </a:rPr>
              <a:t>2x2 </a:t>
            </a:r>
            <a:r>
              <a:rPr lang="de-DE" dirty="0" err="1">
                <a:highlight>
                  <a:srgbClr val="FFFF00"/>
                </a:highlight>
              </a:rPr>
              <a:t>pooling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E8EDE7D-A471-063D-43D2-4A136A27D013}"/>
              </a:ext>
            </a:extLst>
          </p:cNvPr>
          <p:cNvSpPr txBox="1"/>
          <p:nvPr/>
        </p:nvSpPr>
        <p:spPr>
          <a:xfrm>
            <a:off x="4400550" y="1930400"/>
            <a:ext cx="403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ighlight>
                  <a:srgbClr val="FFFF00"/>
                </a:highlight>
              </a:rPr>
              <a:t>2D </a:t>
            </a:r>
            <a:r>
              <a:rPr lang="de-DE" dirty="0" err="1">
                <a:highlight>
                  <a:srgbClr val="FFFF00"/>
                </a:highlight>
              </a:rPr>
              <a:t>convolution</a:t>
            </a:r>
            <a:r>
              <a:rPr lang="de-DE" dirty="0">
                <a:highlight>
                  <a:srgbClr val="FFFF00"/>
                </a:highlight>
              </a:rPr>
              <a:t>, 5x5 </a:t>
            </a:r>
            <a:r>
              <a:rPr lang="de-DE" dirty="0" err="1">
                <a:highlight>
                  <a:srgbClr val="FFFF00"/>
                </a:highlight>
              </a:rPr>
              <a:t>kernel</a:t>
            </a:r>
            <a:r>
              <a:rPr lang="de-DE" dirty="0">
                <a:highlight>
                  <a:srgbClr val="FFFF00"/>
                </a:highlight>
              </a:rPr>
              <a:t>, </a:t>
            </a:r>
            <a:r>
              <a:rPr lang="de-DE" dirty="0" err="1">
                <a:highlight>
                  <a:srgbClr val="FFFF00"/>
                </a:highlight>
              </a:rPr>
              <a:t>no</a:t>
            </a:r>
            <a:r>
              <a:rPr lang="de-DE" dirty="0">
                <a:highlight>
                  <a:srgbClr val="FFFF00"/>
                </a:highlight>
              </a:rPr>
              <a:t> </a:t>
            </a:r>
            <a:r>
              <a:rPr lang="de-DE" dirty="0" err="1">
                <a:highlight>
                  <a:srgbClr val="FFFF00"/>
                </a:highlight>
              </a:rPr>
              <a:t>padding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1540351-8F2F-E87C-FA21-D3261B4BA441}"/>
              </a:ext>
            </a:extLst>
          </p:cNvPr>
          <p:cNvSpPr txBox="1"/>
          <p:nvPr/>
        </p:nvSpPr>
        <p:spPr>
          <a:xfrm>
            <a:off x="4914506" y="2387600"/>
            <a:ext cx="339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ighlight>
                  <a:srgbClr val="FFFF00"/>
                </a:highlight>
              </a:rPr>
              <a:t>2x2 </a:t>
            </a:r>
            <a:r>
              <a:rPr lang="de-DE" dirty="0" err="1">
                <a:highlight>
                  <a:srgbClr val="FFFF00"/>
                </a:highlight>
              </a:rPr>
              <a:t>pooling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777586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C0040AE2-CDAA-1F35-FC41-5C87D74AA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360787"/>
              </p:ext>
            </p:extLst>
          </p:nvPr>
        </p:nvGraphicFramePr>
        <p:xfrm>
          <a:off x="2253856" y="0"/>
          <a:ext cx="7684288" cy="6858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134">
                  <a:extLst>
                    <a:ext uri="{9D8B030D-6E8A-4147-A177-3AD203B41FA5}">
                      <a16:colId xmlns:a16="http://schemas.microsoft.com/office/drawing/2014/main" val="1096606847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587923465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513739387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001126488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369634505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41644606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041490735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270013464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754738946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590022286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4212102350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551211574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568319645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128793933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7482341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536954239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900879238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505035708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476202188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73900772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116931942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272962127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263369052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484609942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1141058360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513614970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605085807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91424908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599995689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3022554551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317342591"/>
                    </a:ext>
                  </a:extLst>
                </a:gridCol>
                <a:gridCol w="240134">
                  <a:extLst>
                    <a:ext uri="{9D8B030D-6E8A-4147-A177-3AD203B41FA5}">
                      <a16:colId xmlns:a16="http://schemas.microsoft.com/office/drawing/2014/main" val="2456843247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781076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16533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71347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25658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50293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929078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959047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391903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89865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108087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192047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807765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664805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758739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10209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035826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0572979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496772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352580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640336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557538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868495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280559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457933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403664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465829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554513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929291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201497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323005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454825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504300"/>
                  </a:ext>
                </a:extLst>
              </a:tr>
            </a:tbl>
          </a:graphicData>
        </a:graphic>
      </p:graphicFrame>
      <p:sp>
        <p:nvSpPr>
          <p:cNvPr id="2" name="Textfeld 1">
            <a:extLst>
              <a:ext uri="{FF2B5EF4-FFF2-40B4-BE49-F238E27FC236}">
                <a16:creationId xmlns:a16="http://schemas.microsoft.com/office/drawing/2014/main" id="{91AC2C75-F967-C2C6-0730-A0C59B087230}"/>
              </a:ext>
            </a:extLst>
          </p:cNvPr>
          <p:cNvSpPr txBox="1"/>
          <p:nvPr/>
        </p:nvSpPr>
        <p:spPr>
          <a:xfrm>
            <a:off x="2253856" y="0"/>
            <a:ext cx="403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ighlight>
                  <a:srgbClr val="FFFF00"/>
                </a:highlight>
              </a:rPr>
              <a:t>2D </a:t>
            </a:r>
            <a:r>
              <a:rPr lang="de-DE" dirty="0" err="1">
                <a:highlight>
                  <a:srgbClr val="FFFF00"/>
                </a:highlight>
              </a:rPr>
              <a:t>convolution</a:t>
            </a:r>
            <a:r>
              <a:rPr lang="de-DE" dirty="0">
                <a:highlight>
                  <a:srgbClr val="FFFF00"/>
                </a:highlight>
              </a:rPr>
              <a:t>, 5x5 </a:t>
            </a:r>
            <a:r>
              <a:rPr lang="de-DE" dirty="0" err="1">
                <a:highlight>
                  <a:srgbClr val="FFFF00"/>
                </a:highlight>
              </a:rPr>
              <a:t>kernel</a:t>
            </a:r>
            <a:r>
              <a:rPr lang="de-DE" dirty="0">
                <a:highlight>
                  <a:srgbClr val="FFFF00"/>
                </a:highlight>
              </a:rPr>
              <a:t>, </a:t>
            </a:r>
            <a:r>
              <a:rPr lang="de-DE" dirty="0" err="1">
                <a:highlight>
                  <a:srgbClr val="FFFF00"/>
                </a:highlight>
              </a:rPr>
              <a:t>padding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9B3B5A3-1806-CC76-DC8A-87E468BA797B}"/>
              </a:ext>
            </a:extLst>
          </p:cNvPr>
          <p:cNvSpPr txBox="1"/>
          <p:nvPr/>
        </p:nvSpPr>
        <p:spPr>
          <a:xfrm>
            <a:off x="2253856" y="369332"/>
            <a:ext cx="339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ighlight>
                  <a:srgbClr val="FFFF00"/>
                </a:highlight>
              </a:rPr>
              <a:t>2x2 </a:t>
            </a:r>
            <a:r>
              <a:rPr lang="de-DE" dirty="0" err="1">
                <a:highlight>
                  <a:srgbClr val="FFFF00"/>
                </a:highlight>
              </a:rPr>
              <a:t>pooling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E8EDE7D-A471-063D-43D2-4A136A27D013}"/>
              </a:ext>
            </a:extLst>
          </p:cNvPr>
          <p:cNvSpPr txBox="1"/>
          <p:nvPr/>
        </p:nvSpPr>
        <p:spPr>
          <a:xfrm>
            <a:off x="4165600" y="1719818"/>
            <a:ext cx="403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ighlight>
                  <a:srgbClr val="FFFF00"/>
                </a:highlight>
              </a:rPr>
              <a:t>2D </a:t>
            </a:r>
            <a:r>
              <a:rPr lang="de-DE" dirty="0" err="1">
                <a:highlight>
                  <a:srgbClr val="FFFF00"/>
                </a:highlight>
              </a:rPr>
              <a:t>convolution</a:t>
            </a:r>
            <a:r>
              <a:rPr lang="de-DE" dirty="0">
                <a:highlight>
                  <a:srgbClr val="FFFF00"/>
                </a:highlight>
              </a:rPr>
              <a:t>, 5x5 </a:t>
            </a:r>
            <a:r>
              <a:rPr lang="de-DE" dirty="0" err="1">
                <a:highlight>
                  <a:srgbClr val="FFFF00"/>
                </a:highlight>
              </a:rPr>
              <a:t>kernel</a:t>
            </a:r>
            <a:r>
              <a:rPr lang="de-DE" dirty="0">
                <a:highlight>
                  <a:srgbClr val="FFFF00"/>
                </a:highlight>
              </a:rPr>
              <a:t>, </a:t>
            </a:r>
            <a:r>
              <a:rPr lang="de-DE" dirty="0" err="1">
                <a:highlight>
                  <a:srgbClr val="FFFF00"/>
                </a:highlight>
              </a:rPr>
              <a:t>padding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1540351-8F2F-E87C-FA21-D3261B4BA441}"/>
              </a:ext>
            </a:extLst>
          </p:cNvPr>
          <p:cNvSpPr txBox="1"/>
          <p:nvPr/>
        </p:nvSpPr>
        <p:spPr>
          <a:xfrm>
            <a:off x="4165600" y="2089150"/>
            <a:ext cx="339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highlight>
                  <a:srgbClr val="FFFF00"/>
                </a:highlight>
              </a:rPr>
              <a:t>2x2 </a:t>
            </a:r>
            <a:r>
              <a:rPr lang="de-DE" dirty="0" err="1">
                <a:highlight>
                  <a:srgbClr val="FFFF00"/>
                </a:highlight>
              </a:rPr>
              <a:t>pooling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49696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95158A-E51B-1867-7D3E-47A6024CB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Pytorch</a:t>
            </a:r>
            <a:r>
              <a:rPr lang="de-DE" dirty="0"/>
              <a:t> </a:t>
            </a:r>
            <a:r>
              <a:rPr lang="de-DE" dirty="0" err="1"/>
              <a:t>implementation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F33273-3061-CDEF-68C6-56FE1AF87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0" y="460374"/>
            <a:ext cx="5181600" cy="639762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torch.nn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torch.nn.functional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as F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CNN(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nn.Module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__(self):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super().__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self.conv1 = nn.Conv2d(3, 6, 5)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self.conv2 = nn.Conv2d(6, 16, 5)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self.pool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nn.MaxPool2d(2, 2)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self.fc1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nn.Linear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(16 * 5 * 5, 120)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self.fc2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nn.Linear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(120, 84)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self.fc3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nn.Linear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(84, 10)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def forward(self, x):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self.pool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F.relu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(self.conv1(x)))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self.pool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F.relu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(self.conv2(x)))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torch.flatten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(x, 1)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F.relu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(self.fc1(x))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x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F.relu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(self.fc2(x))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x = self.fc3(x)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x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model = CNN()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D78DA7EB-15E2-3821-AC25-8530E62956FD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5181600" cy="4211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6451003-F5CA-64F9-32E3-E2E6A109E826}"/>
              </a:ext>
            </a:extLst>
          </p:cNvPr>
          <p:cNvSpPr txBox="1"/>
          <p:nvPr/>
        </p:nvSpPr>
        <p:spPr>
          <a:xfrm>
            <a:off x="883298" y="1878563"/>
            <a:ext cx="54381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Pooling </a:t>
            </a:r>
            <a:r>
              <a:rPr lang="de-DE" dirty="0" err="1"/>
              <a:t>window</a:t>
            </a:r>
            <a:r>
              <a:rPr lang="de-DE" dirty="0"/>
              <a:t> </a:t>
            </a:r>
            <a:r>
              <a:rPr lang="de-DE" dirty="0" err="1"/>
              <a:t>size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given</a:t>
            </a:r>
            <a:r>
              <a:rPr lang="de-DE" dirty="0"/>
              <a:t> (</a:t>
            </a:r>
            <a:r>
              <a:rPr lang="de-DE" dirty="0" err="1"/>
              <a:t>usually</a:t>
            </a:r>
            <a:r>
              <a:rPr lang="de-DE" dirty="0"/>
              <a:t> </a:t>
            </a:r>
            <a:r>
              <a:rPr lang="de-DE" dirty="0" err="1"/>
              <a:t>square</a:t>
            </a:r>
            <a:r>
              <a:rPr lang="de-DE" dirty="0"/>
              <a:t>, </a:t>
            </a:r>
            <a:r>
              <a:rPr lang="de-DE" dirty="0" err="1"/>
              <a:t>doesn‘t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Max </a:t>
            </a:r>
            <a:r>
              <a:rPr lang="de-DE" dirty="0" err="1"/>
              <a:t>pooling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much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average</a:t>
            </a:r>
            <a:r>
              <a:rPr lang="de-DE" dirty="0"/>
              <a:t> </a:t>
            </a:r>
            <a:r>
              <a:rPr lang="de-DE" dirty="0" err="1"/>
              <a:t>pooling</a:t>
            </a:r>
            <a:r>
              <a:rPr lang="de-DE" dirty="0"/>
              <a:t>,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preserves</a:t>
            </a:r>
            <a:r>
              <a:rPr lang="de-DE" dirty="0"/>
              <a:t> high </a:t>
            </a:r>
            <a:r>
              <a:rPr lang="de-DE" dirty="0" err="1"/>
              <a:t>activations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details</a:t>
            </a:r>
            <a:r>
              <a:rPr lang="de-DE" dirty="0"/>
              <a:t> </a:t>
            </a:r>
            <a:r>
              <a:rPr lang="de-DE" dirty="0" err="1"/>
              <a:t>better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5165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BE24D9-11ED-3D41-E379-4C76344C0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Competitive</a:t>
            </a:r>
            <a:r>
              <a:rPr lang="de-DE" dirty="0"/>
              <a:t> </a:t>
            </a:r>
            <a:r>
              <a:rPr lang="de-DE" dirty="0" err="1"/>
              <a:t>architectures</a:t>
            </a:r>
            <a:r>
              <a:rPr lang="de-DE" dirty="0"/>
              <a:t>: VGG16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8466ED-650E-7670-C8A3-8F81B045BF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/>
              <a:t>Input (3,224,224)</a:t>
            </a:r>
            <a:endParaRPr lang="en-US" dirty="0"/>
          </a:p>
          <a:p>
            <a:r>
              <a:rPr lang="en-US" dirty="0"/>
              <a:t>Conv-block 1 (64, 112, 112):</a:t>
            </a:r>
          </a:p>
          <a:p>
            <a:pPr lvl="1"/>
            <a:r>
              <a:rPr lang="en-US" dirty="0"/>
              <a:t>Conv2D(3, 64, 3)</a:t>
            </a:r>
          </a:p>
          <a:p>
            <a:pPr lvl="1"/>
            <a:r>
              <a:rPr lang="en-US" dirty="0"/>
              <a:t>Conv2D(64, 64, 3)</a:t>
            </a:r>
          </a:p>
          <a:p>
            <a:pPr lvl="1"/>
            <a:r>
              <a:rPr lang="en-US" dirty="0" err="1"/>
              <a:t>Maxpool</a:t>
            </a:r>
            <a:endParaRPr lang="en-US" dirty="0"/>
          </a:p>
          <a:p>
            <a:r>
              <a:rPr lang="en-US" dirty="0"/>
              <a:t>Conv-block 2 (128, 56, 56):</a:t>
            </a:r>
          </a:p>
          <a:p>
            <a:pPr lvl="1"/>
            <a:r>
              <a:rPr lang="en-US" dirty="0"/>
              <a:t>Conv2D(64, 128, 3)</a:t>
            </a:r>
          </a:p>
          <a:p>
            <a:pPr lvl="1"/>
            <a:r>
              <a:rPr lang="en-US" dirty="0"/>
              <a:t>Conv2D(128, 128, 3)</a:t>
            </a:r>
          </a:p>
          <a:p>
            <a:pPr lvl="1"/>
            <a:r>
              <a:rPr lang="en-US" dirty="0" err="1"/>
              <a:t>Maxpool</a:t>
            </a:r>
            <a:endParaRPr lang="en-US" dirty="0"/>
          </a:p>
          <a:p>
            <a:r>
              <a:rPr lang="en-US" dirty="0"/>
              <a:t>Conv-block 3 (256, 28, 28):</a:t>
            </a:r>
          </a:p>
          <a:p>
            <a:pPr lvl="1"/>
            <a:r>
              <a:rPr lang="en-US" dirty="0"/>
              <a:t>Conv2D(128, 256, 3)</a:t>
            </a:r>
          </a:p>
          <a:p>
            <a:pPr lvl="1"/>
            <a:r>
              <a:rPr lang="en-US" dirty="0"/>
              <a:t>Conv2D(256, 256, 3)</a:t>
            </a:r>
          </a:p>
          <a:p>
            <a:pPr lvl="1"/>
            <a:r>
              <a:rPr lang="en-US" dirty="0"/>
              <a:t>Conv2D(256, 256, 3)</a:t>
            </a:r>
          </a:p>
          <a:p>
            <a:pPr lvl="1"/>
            <a:r>
              <a:rPr lang="en-US" dirty="0" err="1"/>
              <a:t>maxpool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424C34C-16FD-A95A-7733-E1892EB16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403475"/>
            <a:ext cx="5181600" cy="4351338"/>
          </a:xfrm>
        </p:spPr>
        <p:txBody>
          <a:bodyPr>
            <a:normAutofit fontScale="77500" lnSpcReduction="20000"/>
          </a:bodyPr>
          <a:lstStyle/>
          <a:p>
            <a:r>
              <a:rPr lang="de-DE" dirty="0" err="1"/>
              <a:t>Conv</a:t>
            </a:r>
            <a:r>
              <a:rPr lang="de-DE" dirty="0"/>
              <a:t>-block 4 (512, 14, 14):</a:t>
            </a:r>
          </a:p>
          <a:p>
            <a:pPr lvl="1"/>
            <a:r>
              <a:rPr lang="de-DE" dirty="0"/>
              <a:t>Conv2D(256, 512, 3)</a:t>
            </a:r>
          </a:p>
          <a:p>
            <a:pPr lvl="1"/>
            <a:r>
              <a:rPr lang="de-DE" dirty="0"/>
              <a:t>Conv2D(512, 512, 3)</a:t>
            </a:r>
          </a:p>
          <a:p>
            <a:pPr lvl="1"/>
            <a:r>
              <a:rPr lang="de-DE" dirty="0"/>
              <a:t>Conv2D(512, 512, 3)</a:t>
            </a:r>
          </a:p>
          <a:p>
            <a:pPr lvl="1"/>
            <a:r>
              <a:rPr lang="de-DE" dirty="0" err="1"/>
              <a:t>Maxpool</a:t>
            </a:r>
            <a:endParaRPr lang="de-DE" dirty="0"/>
          </a:p>
          <a:p>
            <a:r>
              <a:rPr lang="de-DE" dirty="0" err="1"/>
              <a:t>Conv</a:t>
            </a:r>
            <a:r>
              <a:rPr lang="de-DE" dirty="0"/>
              <a:t>-block 5 (512, 7, 7):</a:t>
            </a:r>
          </a:p>
          <a:p>
            <a:pPr lvl="1"/>
            <a:r>
              <a:rPr lang="de-DE" dirty="0"/>
              <a:t>Conv2D(512, 512, 3)</a:t>
            </a:r>
          </a:p>
          <a:p>
            <a:pPr lvl="1"/>
            <a:r>
              <a:rPr lang="de-DE" dirty="0"/>
              <a:t>Conv2D(512, 512, 3)</a:t>
            </a:r>
          </a:p>
          <a:p>
            <a:pPr lvl="1"/>
            <a:r>
              <a:rPr lang="de-DE" dirty="0"/>
              <a:t>Conv2D(512, 512, 3)</a:t>
            </a:r>
          </a:p>
          <a:p>
            <a:pPr lvl="1"/>
            <a:r>
              <a:rPr lang="de-DE" dirty="0" err="1"/>
              <a:t>Maxpool</a:t>
            </a:r>
            <a:endParaRPr lang="de-DE" dirty="0"/>
          </a:p>
          <a:p>
            <a:r>
              <a:rPr lang="de-DE" dirty="0"/>
              <a:t>Linear(512*7*7, 4096)</a:t>
            </a:r>
          </a:p>
          <a:p>
            <a:r>
              <a:rPr lang="de-DE" dirty="0"/>
              <a:t>Linear(4096, 4096)</a:t>
            </a:r>
          </a:p>
          <a:p>
            <a:r>
              <a:rPr lang="de-DE" dirty="0"/>
              <a:t>Linear(4096, 1000)</a:t>
            </a:r>
          </a:p>
          <a:p>
            <a:r>
              <a:rPr lang="en-US" dirty="0" err="1"/>
              <a:t>softmax</a:t>
            </a:r>
            <a:endParaRPr lang="en-US" dirty="0"/>
          </a:p>
        </p:txBody>
      </p:sp>
      <p:cxnSp>
        <p:nvCxnSpPr>
          <p:cNvPr id="6" name="Verbinder: gekrümmt 5">
            <a:extLst>
              <a:ext uri="{FF2B5EF4-FFF2-40B4-BE49-F238E27FC236}">
                <a16:creationId xmlns:a16="http://schemas.microsoft.com/office/drawing/2014/main" id="{DBA6D06D-EBF8-5E6D-3C6E-984608E763A3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 rot="5400000" flipH="1" flipV="1">
            <a:off x="4171156" y="1661319"/>
            <a:ext cx="3773488" cy="5257800"/>
          </a:xfrm>
          <a:prstGeom prst="curvedConnector5">
            <a:avLst>
              <a:gd name="adj1" fmla="val -7741"/>
              <a:gd name="adj2" fmla="val 37077"/>
              <a:gd name="adj3" fmla="val 11615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3578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68507D38-35A5-E0D1-D724-36E38AF5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Exercises</a:t>
            </a:r>
            <a:endParaRPr lang="en-US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675142A-559F-83E2-6EC2-3A7E2FF12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Create a CNN </a:t>
            </a:r>
            <a:r>
              <a:rPr lang="de-DE" dirty="0" err="1"/>
              <a:t>classifier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MNIST </a:t>
            </a:r>
            <a:r>
              <a:rPr lang="de-DE" dirty="0" err="1"/>
              <a:t>dataset</a:t>
            </a:r>
            <a:endParaRPr lang="de-DE" dirty="0"/>
          </a:p>
          <a:p>
            <a:pPr marL="971550" lvl="1" indent="-514350">
              <a:buFont typeface="+mj-lt"/>
              <a:buAutoNum type="arabicPeriod"/>
            </a:pP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accuracy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try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chestMNIST</a:t>
            </a:r>
            <a:r>
              <a:rPr lang="de-DE" dirty="0"/>
              <a:t> </a:t>
            </a:r>
            <a:r>
              <a:rPr lang="de-DE" dirty="0" err="1"/>
              <a:t>dataset</a:t>
            </a:r>
            <a:r>
              <a:rPr lang="de-DE" dirty="0"/>
              <a:t> (</a:t>
            </a:r>
            <a:r>
              <a:rPr lang="de-DE" dirty="0">
                <a:hlinkClick r:id="rId2"/>
              </a:rPr>
              <a:t>https://medmnist.com/</a:t>
            </a:r>
            <a:r>
              <a:rPr lang="de-DE" dirty="0"/>
              <a:t>). Modify </a:t>
            </a:r>
            <a:r>
              <a:rPr lang="de-DE" dirty="0" err="1"/>
              <a:t>your</a:t>
            </a:r>
            <a:r>
              <a:rPr lang="de-DE" dirty="0"/>
              <a:t> MNIST </a:t>
            </a:r>
            <a:r>
              <a:rPr lang="de-DE" dirty="0" err="1"/>
              <a:t>architecture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multiclass</a:t>
            </a:r>
            <a:r>
              <a:rPr lang="de-DE" dirty="0"/>
              <a:t>, </a:t>
            </a:r>
            <a:r>
              <a:rPr lang="de-DE" dirty="0" err="1"/>
              <a:t>multilabel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do so</a:t>
            </a:r>
          </a:p>
          <a:p>
            <a:pPr marL="971550" lvl="1" indent="-514350">
              <a:buFont typeface="+mj-lt"/>
              <a:buAutoNum type="arabicPeriod"/>
            </a:pP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changes</a:t>
            </a:r>
            <a:r>
              <a:rPr lang="de-DE" dirty="0"/>
              <a:t> do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make</a:t>
            </a:r>
            <a:r>
              <a:rPr lang="de-DE" dirty="0"/>
              <a:t>?</a:t>
            </a:r>
          </a:p>
          <a:p>
            <a:pPr marL="971550" lvl="1" indent="-514350">
              <a:buFont typeface="+mj-lt"/>
              <a:buAutoNum type="arabicPeriod"/>
            </a:pPr>
            <a:r>
              <a:rPr lang="de-DE" dirty="0"/>
              <a:t>Do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accuracy</a:t>
            </a:r>
            <a:r>
              <a:rPr lang="de-DE" dirty="0"/>
              <a:t>?</a:t>
            </a:r>
          </a:p>
          <a:p>
            <a:pPr marL="971550" lvl="1" indent="-514350">
              <a:buFont typeface="+mj-lt"/>
              <a:buAutoNum type="arabicPeriod"/>
            </a:pP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performance</a:t>
            </a:r>
            <a:r>
              <a:rPr lang="de-DE" dirty="0"/>
              <a:t> do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predict</a:t>
            </a:r>
            <a:r>
              <a:rPr lang="de-DE" dirty="0"/>
              <a:t> „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finding</a:t>
            </a:r>
            <a:r>
              <a:rPr lang="de-DE" dirty="0"/>
              <a:t>“?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Extend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architecture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chestMNIST</a:t>
            </a:r>
            <a:r>
              <a:rPr lang="de-DE" dirty="0"/>
              <a:t>+, 224x224 </a:t>
            </a:r>
            <a:r>
              <a:rPr lang="de-DE" dirty="0" err="1"/>
              <a:t>size</a:t>
            </a:r>
            <a:r>
              <a:rPr lang="de-DE" dirty="0"/>
              <a:t>,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pretraining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semester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pPr marL="971550" lvl="1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476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2263</Words>
  <Application>Microsoft Office PowerPoint</Application>
  <PresentationFormat>Widescreen</PresentationFormat>
  <Paragraphs>962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Aptos</vt:lpstr>
      <vt:lpstr>Aptos Display</vt:lpstr>
      <vt:lpstr>Arial</vt:lpstr>
      <vt:lpstr>Cambria Math</vt:lpstr>
      <vt:lpstr>Courier New</vt:lpstr>
      <vt:lpstr>Wingdings</vt:lpstr>
      <vt:lpstr>Office</vt:lpstr>
      <vt:lpstr>Computer vision for biomedical images</vt:lpstr>
      <vt:lpstr>Feeding images to fully-connected neural networks</vt:lpstr>
      <vt:lpstr>Feeding images to fully-connected neural networks</vt:lpstr>
      <vt:lpstr>Feeding images to fully-connected neural networks</vt:lpstr>
      <vt:lpstr>Feeding images to fully-connected neural networks</vt:lpstr>
      <vt:lpstr>Feeding images to fully-connected neural networks</vt:lpstr>
      <vt:lpstr>Feeding images to fully-connected neural networks</vt:lpstr>
      <vt:lpstr>Let‘s build a zero-detector</vt:lpstr>
      <vt:lpstr>Let‘s build a zero-detector</vt:lpstr>
      <vt:lpstr>Let‘s build a zero-detector</vt:lpstr>
      <vt:lpstr>Let‘s build a zero-detector</vt:lpstr>
      <vt:lpstr>Let‘s build a zero-detector</vt:lpstr>
      <vt:lpstr>Let‘s build a zero-detector</vt:lpstr>
      <vt:lpstr>Let‘s build a zero-detector</vt:lpstr>
      <vt:lpstr>Let‘s build a zero-detector</vt:lpstr>
      <vt:lpstr>Stepping things up</vt:lpstr>
      <vt:lpstr>ImageNet example class 192: cairn terrier</vt:lpstr>
      <vt:lpstr>Detecting patterns vs detecting objects</vt:lpstr>
      <vt:lpstr>Detecting patterns vs detecting objects</vt:lpstr>
      <vt:lpstr>Detecting patterns vs detecting objects</vt:lpstr>
      <vt:lpstr>Let‘s build a b-pattern-detector</vt:lpstr>
      <vt:lpstr>Detecting patterns vs detecting objects</vt:lpstr>
      <vt:lpstr>PowerPoint Presentation</vt:lpstr>
      <vt:lpstr>PowerPoint Presentation</vt:lpstr>
      <vt:lpstr>Detecting patterns vs detecting objects</vt:lpstr>
      <vt:lpstr>Common kernels</vt:lpstr>
      <vt:lpstr>Pytorch implementation</vt:lpstr>
      <vt:lpstr>Pytorch implementation</vt:lpstr>
      <vt:lpstr>PowerPoint Presentation</vt:lpstr>
      <vt:lpstr>Pooling</vt:lpstr>
      <vt:lpstr>PowerPoint Presentation</vt:lpstr>
      <vt:lpstr>PowerPoint Presentation</vt:lpstr>
      <vt:lpstr>Pytorch implementation</vt:lpstr>
      <vt:lpstr>Competitive architectures: VGG16</vt:lpstr>
      <vt:lpstr>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for biomedical images</dc:title>
  <dc:creator>Lukassen, Sören</dc:creator>
  <cp:lastModifiedBy>Lukassen, Sören</cp:lastModifiedBy>
  <cp:revision>21</cp:revision>
  <dcterms:created xsi:type="dcterms:W3CDTF">2024-04-09T12:57:42Z</dcterms:created>
  <dcterms:modified xsi:type="dcterms:W3CDTF">2025-04-24T12:56:03Z</dcterms:modified>
</cp:coreProperties>
</file>